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6" r:id="rId2"/>
    <p:sldId id="278" r:id="rId3"/>
    <p:sldId id="279" r:id="rId4"/>
    <p:sldId id="280" r:id="rId5"/>
    <p:sldId id="282" r:id="rId6"/>
    <p:sldId id="281" r:id="rId7"/>
    <p:sldId id="283" r:id="rId8"/>
    <p:sldId id="285" r:id="rId9"/>
    <p:sldId id="284" r:id="rId10"/>
    <p:sldId id="286" r:id="rId11"/>
    <p:sldId id="287" r:id="rId12"/>
    <p:sldId id="288" r:id="rId13"/>
    <p:sldId id="290" r:id="rId14"/>
    <p:sldId id="289" r:id="rId15"/>
    <p:sldId id="291" r:id="rId16"/>
    <p:sldId id="292" r:id="rId17"/>
    <p:sldId id="294" r:id="rId18"/>
    <p:sldId id="268" r:id="rId19"/>
    <p:sldId id="295" r:id="rId20"/>
    <p:sldId id="297" r:id="rId21"/>
    <p:sldId id="298" r:id="rId22"/>
    <p:sldId id="300" r:id="rId23"/>
    <p:sldId id="299" r:id="rId24"/>
    <p:sldId id="301" r:id="rId25"/>
    <p:sldId id="275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B8C00"/>
    <a:srgbClr val="00897B"/>
    <a:srgbClr val="0D1B2A"/>
    <a:srgbClr val="E53935"/>
    <a:srgbClr val="1976D2"/>
    <a:srgbClr val="3399FF"/>
    <a:srgbClr val="009999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36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D3DAC-A78F-18F9-05C6-20F4599F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1BBB3-A8EC-6118-E826-568C33775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55F9C-AC15-495A-C7B5-036517203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46562-424D-248A-1BB2-40A0A507D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79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AC20E-AA75-6790-FE3B-85141200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066463-0CA6-21DE-52ED-354BC07CCE89}"/>
              </a:ext>
            </a:extLst>
          </p:cNvPr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926C2-85CF-FF45-D82D-F0AEB21A0461}"/>
              </a:ext>
            </a:extLst>
          </p:cNvPr>
          <p:cNvSpPr/>
          <p:nvPr/>
        </p:nvSpPr>
        <p:spPr>
          <a:xfrm>
            <a:off x="4389120" y="0"/>
            <a:ext cx="64008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4A740B-7DAD-46F4-474A-F521AB1D7E75}"/>
              </a:ext>
            </a:extLst>
          </p:cNvPr>
          <p:cNvSpPr/>
          <p:nvPr/>
        </p:nvSpPr>
        <p:spPr>
          <a:xfrm>
            <a:off x="45720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4E7D46-9B9F-CCC9-277F-B32E69B24002}"/>
              </a:ext>
            </a:extLst>
          </p:cNvPr>
          <p:cNvSpPr/>
          <p:nvPr/>
        </p:nvSpPr>
        <p:spPr>
          <a:xfrm>
            <a:off x="41148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</a:t>
            </a:r>
            <a:endParaRPr lang="en-US" sz="3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421873F-B747-D131-D4FE-C05077B7FF64}"/>
              </a:ext>
            </a:extLst>
          </p:cNvPr>
          <p:cNvSpPr/>
          <p:nvPr/>
        </p:nvSpPr>
        <p:spPr>
          <a:xfrm>
            <a:off x="411480" y="25420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3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2191998-051E-3641-2098-48A7AD3A8C6A}"/>
              </a:ext>
            </a:extLst>
          </p:cNvPr>
          <p:cNvSpPr/>
          <p:nvPr/>
        </p:nvSpPr>
        <p:spPr>
          <a:xfrm>
            <a:off x="411480" y="3246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et extinction automatique d'incendies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basées sur ESP32 et capteurs infrarouges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0BC943F-7843-24A5-1668-CBB24D9F1F82}"/>
              </a:ext>
            </a:extLst>
          </p:cNvPr>
          <p:cNvSpPr/>
          <p:nvPr/>
        </p:nvSpPr>
        <p:spPr>
          <a:xfrm>
            <a:off x="4114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986B3E4-77B5-81A3-1A0F-49B2311A5607}"/>
              </a:ext>
            </a:extLst>
          </p:cNvPr>
          <p:cNvSpPr/>
          <p:nvPr/>
        </p:nvSpPr>
        <p:spPr>
          <a:xfrm>
            <a:off x="411480" y="4389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KHALIL BEN ALI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 HADDAOUI . ALI AMMARI</a:t>
            </a:r>
          </a:p>
        </p:txBody>
      </p:sp>
      <p:pic>
        <p:nvPicPr>
          <p:cNvPr id="24" name="Graphique 23" descr="Feu">
            <a:extLst>
              <a:ext uri="{FF2B5EF4-FFF2-40B4-BE49-F238E27FC236}">
                <a16:creationId xmlns:a16="http://schemas.microsoft.com/office/drawing/2014/main" id="{CA246040-1EBD-87E5-A059-62B62FDBF4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7360" y="241671"/>
            <a:ext cx="914400" cy="914400"/>
          </a:xfrm>
          <a:prstGeom prst="rect">
            <a:avLst/>
          </a:prstGeom>
        </p:spPr>
      </p:pic>
      <p:sp>
        <p:nvSpPr>
          <p:cNvPr id="27" name="Shape 0">
            <a:extLst>
              <a:ext uri="{FF2B5EF4-FFF2-40B4-BE49-F238E27FC236}">
                <a16:creationId xmlns:a16="http://schemas.microsoft.com/office/drawing/2014/main" id="{B6D1A5B9-FC37-9AF6-715E-B9A8C1DD1302}"/>
              </a:ext>
            </a:extLst>
          </p:cNvPr>
          <p:cNvSpPr/>
          <p:nvPr/>
        </p:nvSpPr>
        <p:spPr>
          <a:xfrm>
            <a:off x="4477000" y="1444"/>
            <a:ext cx="4677156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A56175AA-94E0-A5BF-31BF-4FBFD26955FF}"/>
              </a:ext>
            </a:extLst>
          </p:cNvPr>
          <p:cNvSpPr/>
          <p:nvPr/>
        </p:nvSpPr>
        <p:spPr>
          <a:xfrm>
            <a:off x="-11254" y="4973691"/>
            <a:ext cx="9144000" cy="18288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8978B092-DFFD-E31A-2E80-A321EABF9538}"/>
              </a:ext>
            </a:extLst>
          </p:cNvPr>
          <p:cNvGrpSpPr/>
          <p:nvPr/>
        </p:nvGrpSpPr>
        <p:grpSpPr>
          <a:xfrm>
            <a:off x="4681728" y="2814329"/>
            <a:ext cx="4292874" cy="1692930"/>
            <a:chOff x="4622526" y="3107670"/>
            <a:chExt cx="4292874" cy="1692930"/>
          </a:xfrm>
        </p:grpSpPr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BD0FE349-91B0-373C-4D89-A625AC9F1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2526" y="3168396"/>
              <a:ext cx="320040" cy="320040"/>
            </a:xfrm>
            <a:prstGeom prst="rect">
              <a:avLst/>
            </a:prstGeom>
          </p:spPr>
        </p:pic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97029A6B-2C97-7DC3-03EC-C6F5CFC212C1}"/>
                </a:ext>
              </a:extLst>
            </p:cNvPr>
            <p:cNvSpPr/>
            <p:nvPr/>
          </p:nvSpPr>
          <p:spPr>
            <a:xfrm>
              <a:off x="5074920" y="310767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FD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ESP32 — Microcontrôleur principal</a:t>
              </a:r>
              <a:endParaRPr lang="en-US" sz="1100" dirty="0"/>
            </a:p>
          </p:txBody>
        </p:sp>
        <p:pic>
          <p:nvPicPr>
            <p:cNvPr id="14" name="Image 3" descr="preencoded.png">
              <a:extLst>
                <a:ext uri="{FF2B5EF4-FFF2-40B4-BE49-F238E27FC236}">
                  <a16:creationId xmlns:a16="http://schemas.microsoft.com/office/drawing/2014/main" id="{F36F7892-485F-C2EE-EE3E-6D552039A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2526" y="3598164"/>
              <a:ext cx="320040" cy="320040"/>
            </a:xfrm>
            <a:prstGeom prst="rect">
              <a:avLst/>
            </a:prstGeom>
          </p:spPr>
        </p:pic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D0BEF516-F28E-972A-0F64-37BA42E6DC2C}"/>
                </a:ext>
              </a:extLst>
            </p:cNvPr>
            <p:cNvSpPr/>
            <p:nvPr/>
          </p:nvSpPr>
          <p:spPr>
            <a:xfrm>
              <a:off x="5074920" y="3530874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FD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capteurs IR — Détection 360°</a:t>
              </a:r>
              <a:endParaRPr lang="en-US" sz="1100" dirty="0"/>
            </a:p>
          </p:txBody>
        </p:sp>
        <p:pic>
          <p:nvPicPr>
            <p:cNvPr id="16" name="Image 4" descr="preencoded.png">
              <a:extLst>
                <a:ext uri="{FF2B5EF4-FFF2-40B4-BE49-F238E27FC236}">
                  <a16:creationId xmlns:a16="http://schemas.microsoft.com/office/drawing/2014/main" id="{8E60B072-3EB8-BD60-FEFE-142ECF0B7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22526" y="4027932"/>
              <a:ext cx="320040" cy="320040"/>
            </a:xfrm>
            <a:prstGeom prst="rect">
              <a:avLst/>
            </a:prstGeom>
          </p:spPr>
        </p:pic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BA6E8F22-7889-ADB0-EF3E-A39BEA9B1C19}"/>
                </a:ext>
              </a:extLst>
            </p:cNvPr>
            <p:cNvSpPr/>
            <p:nvPr/>
          </p:nvSpPr>
          <p:spPr>
            <a:xfrm>
              <a:off x="5074920" y="3942354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FD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Pompe + Servo — Extinction active</a:t>
              </a:r>
              <a:endParaRPr lang="en-US" sz="1100" dirty="0"/>
            </a:p>
          </p:txBody>
        </p:sp>
        <p:pic>
          <p:nvPicPr>
            <p:cNvPr id="18" name="Image 5" descr="preencoded.png">
              <a:extLst>
                <a:ext uri="{FF2B5EF4-FFF2-40B4-BE49-F238E27FC236}">
                  <a16:creationId xmlns:a16="http://schemas.microsoft.com/office/drawing/2014/main" id="{F4720208-A4C8-7D36-3E2E-4EFBB6970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0580" y="4443984"/>
              <a:ext cx="320040" cy="320040"/>
            </a:xfrm>
            <a:prstGeom prst="rect">
              <a:avLst/>
            </a:prstGeom>
          </p:spPr>
        </p:pic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1B7A520E-D9BB-BFAC-5FA5-CA2E5DAA14A9}"/>
                </a:ext>
              </a:extLst>
            </p:cNvPr>
            <p:cNvSpPr/>
            <p:nvPr/>
          </p:nvSpPr>
          <p:spPr>
            <a:xfrm>
              <a:off x="5074920" y="438912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FD8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HC-SR04 — Évitement d'obstacles</a:t>
              </a:r>
              <a:endParaRPr lang="en-US" sz="1100" dirty="0"/>
            </a:p>
          </p:txBody>
        </p:sp>
      </p:grpSp>
      <p:sp>
        <p:nvSpPr>
          <p:cNvPr id="21" name="Text 13">
            <a:extLst>
              <a:ext uri="{FF2B5EF4-FFF2-40B4-BE49-F238E27FC236}">
                <a16:creationId xmlns:a16="http://schemas.microsoft.com/office/drawing/2014/main" id="{291BBD65-E060-681F-BA3A-A9F44BFD1B18}"/>
              </a:ext>
            </a:extLst>
          </p:cNvPr>
          <p:cNvSpPr/>
          <p:nvPr/>
        </p:nvSpPr>
        <p:spPr>
          <a:xfrm>
            <a:off x="9144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sousse·  2025–2026</a:t>
            </a:r>
            <a:endParaRPr lang="en-US" sz="8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CADBF0EF-89D9-FFC6-7F3E-CDD293F793A0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63243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912E8A-B05F-8F18-D307-D5A5A255828F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58FB820-5AF5-1358-FEB6-13713B66ACE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00D4FAD-9527-7D12-B5C9-8F93C4DD3A80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806F19-D562-A0B2-71FB-49AD31657CBD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FC5C8BA-5F35-C4AC-C3B3-A6C79A0253AF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DA5845F-1E2B-7ACA-6B8D-3298CC0E853C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4D3C4BE-1926-A4B6-7092-2B74A026742B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AB5DEC6E-2359-AEA1-103B-8C196B181FE3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A8EC9ABC-3F8D-4754-F3D6-B7DFA1CE6A9B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53528A4-3498-464B-926B-A5B4D443DC89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73F7DB2-F372-0D89-263F-C5D951D3BEAD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40EF824-BDF3-BB10-A2B5-23CD9D5018F4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204F0065-4DC9-67CE-BB25-AC5E945E3B82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21D3DE7-3171-A12D-79FF-E0FD265F26AC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BD6172F-45B9-D777-A145-3AFE1FB44B68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32C0260-D37A-1902-85E5-E208417DE5AC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E705C24-2050-7DB5-A82B-40B016CE3C90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40D4C8CD-4E1B-BA5D-C81F-759E1EB4FF1E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D13449F-72E3-906F-5C7D-7D99A94BAB0C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C4219B2-6EE4-CA2E-92D4-B5026A9FAF62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4023DFA-CA9D-D952-4B68-93B05A3BD6B8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91DEC817-DD13-A532-1BB4-C1277478A778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251990B0-8D73-E40E-D0D8-F3346C734D06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3746E451-2CE2-D410-2F61-14D3305BEDC8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D2242414-3F11-D181-D5B1-AC4A3D1C69E6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964D2989-4E3D-E9A5-1C44-2FD4A32914E8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8A7DE14E-93E6-2F80-3F42-E7A424F2DEAF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4595CFC6-8E97-603C-A368-D2696A8BB926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60E5E88B-20A1-D9D2-EA53-ADE6AC25E30F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3B7712E-0D17-6165-5A32-E662629E7827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1DC8259C-62BA-2A29-049D-9C63CA7EB0DD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EDA05B01-9670-F0E5-2120-2F4E5CA7A45A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2ABBBC9C-7FFF-7CBA-410E-19256D657068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34D84AFD-20C1-5C9F-84EC-3B5218305EC0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FCCC1B3-060D-7F30-E6BD-5AC1D5F2FD61}"/>
              </a:ext>
            </a:extLst>
          </p:cNvPr>
          <p:cNvSpPr/>
          <p:nvPr/>
        </p:nvSpPr>
        <p:spPr>
          <a:xfrm>
            <a:off x="429768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4A0BA50A-AD05-98EB-A273-5CE6DC778210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B6954736-4CEC-B19F-1D7A-A07873FC21F7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697E8C78-AA61-D758-333E-1BF33E0CF5A7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1AB00E79-805B-FDE8-5998-105BD3A9021F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7C3A242B-9BED-A14B-E062-132A74F66E9E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9DAC679D-582F-059D-348E-432F8873D274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5191F4C6-C875-93A1-06B0-D0E2535F9C1E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1EC7137F-EFC8-8C38-89BE-A14E65E6E38A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9385DB9C-1ABA-B6B9-FAB3-CF4717A32B3A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366DCB18-97A8-B5A1-C32D-1B64B0366D33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AA98D2FB-29DC-EE7F-01DC-37355EBA62D3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43D26836-A071-1DAB-0E4A-B62044592E4D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3D5DF81B-EADF-407D-A208-0366CE98D936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AAFCF2F1-25DE-01DA-6988-A482A9ABC915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6CDE7177-B8DE-DC84-4821-2F34A3CA92F9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506C2F80-09A6-AD7D-F931-A3CECBBD634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53128" y="4361688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3342A5A5-46AF-B67F-8FE4-FBCAAC4F7BEA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E60BD8B4-9A30-3382-762B-F745E6761842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19EF99DF-DDD2-60A5-F1C8-1A9C7780A425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32C6F596-BFAF-D56C-BECA-82E6E99F17F7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80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9212-01CC-D06A-B2C0-9D707285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99A1B996-5338-C084-2672-41E194BB8FA7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EDDC1F25-F376-943E-4FD8-296B1E206B59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19CC35CC-E58D-9999-8105-190FFD2EB012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1D70C5F6-1B88-C28A-105D-75116A38939A}"/>
                </a:ext>
              </a:extLst>
            </p:cNvPr>
            <p:cNvSpPr/>
            <p:nvPr/>
          </p:nvSpPr>
          <p:spPr>
            <a:xfrm>
              <a:off x="182880" y="160020"/>
              <a:ext cx="825568" cy="188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01</a:t>
              </a:r>
              <a:endParaRPr lang="en-US" sz="1400" dirty="0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28CFA751-424B-1475-5528-D9D839C7975B}"/>
                </a:ext>
              </a:extLst>
            </p:cNvPr>
            <p:cNvSpPr/>
            <p:nvPr/>
          </p:nvSpPr>
          <p:spPr>
            <a:xfrm>
              <a:off x="1407469" y="119207"/>
              <a:ext cx="5152686" cy="87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 &amp; Problématique</a:t>
              </a:r>
              <a:endParaRPr lang="en-US" sz="13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0AE532DA-890D-BCD1-356F-CD50F3266F34}"/>
                </a:ext>
              </a:extLst>
            </p:cNvPr>
            <p:cNvSpPr/>
            <p:nvPr/>
          </p:nvSpPr>
          <p:spPr>
            <a:xfrm>
              <a:off x="1407469" y="330966"/>
              <a:ext cx="5152686" cy="6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890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Contexte, motivation, objectifs</a:t>
              </a:r>
              <a:endParaRPr lang="en-US" sz="1000" dirty="0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E8E51821-DBA5-8806-4390-E791E82F449D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400BB309-7B86-4C56-53E2-923990A8A6A3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065DE5D0-E77C-1FEE-7785-167B52C16B37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14B0655-294D-50F5-C88B-32C0E8D2B757}"/>
              </a:ext>
            </a:extLst>
          </p:cNvPr>
          <p:cNvSpPr/>
          <p:nvPr/>
        </p:nvSpPr>
        <p:spPr>
          <a:xfrm>
            <a:off x="0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FDDE74D4-FF6E-D762-5C1F-1F4E79628106}"/>
              </a:ext>
            </a:extLst>
          </p:cNvPr>
          <p:cNvSpPr/>
          <p:nvPr/>
        </p:nvSpPr>
        <p:spPr>
          <a:xfrm>
            <a:off x="2575560" y="53374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Motivation</a:t>
            </a:r>
            <a:endParaRPr lang="en-US" sz="2600" dirty="0">
              <a:solidFill>
                <a:schemeClr val="accent4"/>
              </a:solidFill>
            </a:endParaRPr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52E0976E-698C-CAF4-3EB9-0DB163BD8C14}"/>
              </a:ext>
            </a:extLst>
          </p:cNvPr>
          <p:cNvSpPr/>
          <p:nvPr/>
        </p:nvSpPr>
        <p:spPr>
          <a:xfrm>
            <a:off x="305032" y="12527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57417A8C-B955-4846-F533-4B9A48ADAEE3}"/>
              </a:ext>
            </a:extLst>
          </p:cNvPr>
          <p:cNvSpPr/>
          <p:nvPr/>
        </p:nvSpPr>
        <p:spPr>
          <a:xfrm>
            <a:off x="305032" y="1799518"/>
            <a:ext cx="4861560" cy="214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incendies représentent l'une des menaces les plus destructrices pour les vies humaines et les biens matériels. L'intervention humaine dans des environnements enflammés est extrêmement dangereuse et souvent trop tardive.</a:t>
            </a:r>
            <a:endParaRPr lang="en-US" sz="11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 système robotique autonome capable de détecter et d'éteindre automatiquement un incendie, sans risque pour l'intervention humaine ?</a:t>
            </a:r>
            <a:endParaRPr lang="en-US" sz="1150" dirty="0">
              <a:solidFill>
                <a:schemeClr val="bg1"/>
              </a:solidFill>
            </a:endParaRPr>
          </a:p>
        </p:txBody>
      </p: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E8381F8E-28D8-5096-58E0-2CA3622E937E}"/>
              </a:ext>
            </a:extLst>
          </p:cNvPr>
          <p:cNvGrpSpPr/>
          <p:nvPr/>
        </p:nvGrpSpPr>
        <p:grpSpPr>
          <a:xfrm>
            <a:off x="5760720" y="1261872"/>
            <a:ext cx="2971800" cy="3291840"/>
            <a:chOff x="5760720" y="1261872"/>
            <a:chExt cx="2971800" cy="3291840"/>
          </a:xfrm>
        </p:grpSpPr>
        <p:sp>
          <p:nvSpPr>
            <p:cNvPr id="79" name="Shape 11">
              <a:extLst>
                <a:ext uri="{FF2B5EF4-FFF2-40B4-BE49-F238E27FC236}">
                  <a16:creationId xmlns:a16="http://schemas.microsoft.com/office/drawing/2014/main" id="{7320A399-C29D-AA35-D65D-2454DDD9DF64}"/>
                </a:ext>
              </a:extLst>
            </p:cNvPr>
            <p:cNvSpPr/>
            <p:nvPr/>
          </p:nvSpPr>
          <p:spPr>
            <a:xfrm>
              <a:off x="5760720" y="1261872"/>
              <a:ext cx="2971800" cy="1024128"/>
            </a:xfrm>
            <a:prstGeom prst="rect">
              <a:avLst/>
            </a:prstGeom>
            <a:solidFill>
              <a:srgbClr val="E53935"/>
            </a:solidFill>
            <a:ln/>
            <a:effectLst>
              <a:outerShdw blurRad="1270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Text 12">
              <a:extLst>
                <a:ext uri="{FF2B5EF4-FFF2-40B4-BE49-F238E27FC236}">
                  <a16:creationId xmlns:a16="http://schemas.microsoft.com/office/drawing/2014/main" id="{6F10790A-5F4D-76B8-26F5-A36540E4E481}"/>
                </a:ext>
              </a:extLst>
            </p:cNvPr>
            <p:cNvSpPr/>
            <p:nvPr/>
          </p:nvSpPr>
          <p:spPr>
            <a:xfrm>
              <a:off x="5806440" y="1335024"/>
              <a:ext cx="2880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2.5M+</a:t>
              </a:r>
              <a:endParaRPr lang="en-US" sz="3200" dirty="0"/>
            </a:p>
          </p:txBody>
        </p:sp>
        <p:sp>
          <p:nvSpPr>
            <p:cNvPr id="81" name="Text 13">
              <a:extLst>
                <a:ext uri="{FF2B5EF4-FFF2-40B4-BE49-F238E27FC236}">
                  <a16:creationId xmlns:a16="http://schemas.microsoft.com/office/drawing/2014/main" id="{AF0190FE-3703-D06E-5FEB-1890F172856A}"/>
                </a:ext>
              </a:extLst>
            </p:cNvPr>
            <p:cNvSpPr/>
            <p:nvPr/>
          </p:nvSpPr>
          <p:spPr>
            <a:xfrm>
              <a:off x="5806440" y="1847088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incendies par an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dans le monde</a:t>
              </a:r>
              <a:endParaRPr lang="en-US" sz="1000" dirty="0"/>
            </a:p>
          </p:txBody>
        </p:sp>
        <p:sp>
          <p:nvSpPr>
            <p:cNvPr id="82" name="Shape 14">
              <a:extLst>
                <a:ext uri="{FF2B5EF4-FFF2-40B4-BE49-F238E27FC236}">
                  <a16:creationId xmlns:a16="http://schemas.microsoft.com/office/drawing/2014/main" id="{D327E63B-717F-ABD6-DBBB-FCFC02277924}"/>
                </a:ext>
              </a:extLst>
            </p:cNvPr>
            <p:cNvSpPr/>
            <p:nvPr/>
          </p:nvSpPr>
          <p:spPr>
            <a:xfrm>
              <a:off x="5760720" y="2395728"/>
              <a:ext cx="2971800" cy="1024128"/>
            </a:xfrm>
            <a:prstGeom prst="rect">
              <a:avLst/>
            </a:prstGeom>
            <a:solidFill>
              <a:srgbClr val="FB8C00"/>
            </a:solidFill>
            <a:ln/>
            <a:effectLst>
              <a:outerShdw blurRad="1270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Text 15">
              <a:extLst>
                <a:ext uri="{FF2B5EF4-FFF2-40B4-BE49-F238E27FC236}">
                  <a16:creationId xmlns:a16="http://schemas.microsoft.com/office/drawing/2014/main" id="{F3955F9A-85C1-95E0-BC2B-D4D99F215722}"/>
                </a:ext>
              </a:extLst>
            </p:cNvPr>
            <p:cNvSpPr/>
            <p:nvPr/>
          </p:nvSpPr>
          <p:spPr>
            <a:xfrm>
              <a:off x="5806440" y="2468880"/>
              <a:ext cx="2880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38 000</a:t>
              </a:r>
              <a:endParaRPr lang="en-US" sz="3200" dirty="0"/>
            </a:p>
          </p:txBody>
        </p:sp>
        <p:sp>
          <p:nvSpPr>
            <p:cNvPr id="84" name="Text 16">
              <a:extLst>
                <a:ext uri="{FF2B5EF4-FFF2-40B4-BE49-F238E27FC236}">
                  <a16:creationId xmlns:a16="http://schemas.microsoft.com/office/drawing/2014/main" id="{575F8B04-4B54-D6B3-E87C-AFF92B79AAE2}"/>
                </a:ext>
              </a:extLst>
            </p:cNvPr>
            <p:cNvSpPr/>
            <p:nvPr/>
          </p:nvSpPr>
          <p:spPr>
            <a:xfrm>
              <a:off x="5806440" y="2980944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pompiers blessés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chaque année (USA)</a:t>
              </a:r>
              <a:endParaRPr lang="en-US" sz="1000" dirty="0"/>
            </a:p>
          </p:txBody>
        </p:sp>
        <p:sp>
          <p:nvSpPr>
            <p:cNvPr id="85" name="Shape 17">
              <a:extLst>
                <a:ext uri="{FF2B5EF4-FFF2-40B4-BE49-F238E27FC236}">
                  <a16:creationId xmlns:a16="http://schemas.microsoft.com/office/drawing/2014/main" id="{1B7E7DEB-196A-031F-DEC4-163F4FBC3B73}"/>
                </a:ext>
              </a:extLst>
            </p:cNvPr>
            <p:cNvSpPr/>
            <p:nvPr/>
          </p:nvSpPr>
          <p:spPr>
            <a:xfrm>
              <a:off x="5760720" y="3529584"/>
              <a:ext cx="2971800" cy="1024128"/>
            </a:xfrm>
            <a:prstGeom prst="rect">
              <a:avLst/>
            </a:prstGeom>
            <a:solidFill>
              <a:srgbClr val="1565C0"/>
            </a:solidFill>
            <a:ln/>
            <a:effectLst>
              <a:outerShdw blurRad="1270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Text 18">
              <a:extLst>
                <a:ext uri="{FF2B5EF4-FFF2-40B4-BE49-F238E27FC236}">
                  <a16:creationId xmlns:a16="http://schemas.microsoft.com/office/drawing/2014/main" id="{C4BAD39A-2A9F-EA70-E2F5-4A5D4C4DA43D}"/>
                </a:ext>
              </a:extLst>
            </p:cNvPr>
            <p:cNvSpPr/>
            <p:nvPr/>
          </p:nvSpPr>
          <p:spPr>
            <a:xfrm>
              <a:off x="5806440" y="3602736"/>
              <a:ext cx="2880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3200" dirty="0"/>
            </a:p>
          </p:txBody>
        </p:sp>
        <p:sp>
          <p:nvSpPr>
            <p:cNvPr id="87" name="Text 19">
              <a:extLst>
                <a:ext uri="{FF2B5EF4-FFF2-40B4-BE49-F238E27FC236}">
                  <a16:creationId xmlns:a16="http://schemas.microsoft.com/office/drawing/2014/main" id="{8A647C4A-D0F9-7D74-593F-BED3210AEB0A}"/>
                </a:ext>
              </a:extLst>
            </p:cNvPr>
            <p:cNvSpPr/>
            <p:nvPr/>
          </p:nvSpPr>
          <p:spPr>
            <a:xfrm>
              <a:off x="5806440" y="4114800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sans opérateur humain</a:t>
              </a:r>
              <a:endParaRPr lang="en-US" sz="1000" dirty="0"/>
            </a:p>
          </p:txBody>
        </p:sp>
      </p:grpSp>
      <p:sp>
        <p:nvSpPr>
          <p:cNvPr id="88" name="Shape 6">
            <a:extLst>
              <a:ext uri="{FF2B5EF4-FFF2-40B4-BE49-F238E27FC236}">
                <a16:creationId xmlns:a16="http://schemas.microsoft.com/office/drawing/2014/main" id="{B4A614C1-8FFD-100C-65DE-BEA877A7D999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199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2F3EA-3C8A-95CE-B45D-E80C9774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17CA0EB6-522A-D238-5472-465358343983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685B6192-47B2-F83B-7076-5A0A98508856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163528BC-C1F9-9860-8FDD-685A87055A57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F46EA1ED-0BE2-1887-B05D-AD5A0F343A29}"/>
                </a:ext>
              </a:extLst>
            </p:cNvPr>
            <p:cNvSpPr/>
            <p:nvPr/>
          </p:nvSpPr>
          <p:spPr>
            <a:xfrm>
              <a:off x="182880" y="160020"/>
              <a:ext cx="825568" cy="188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01</a:t>
              </a:r>
              <a:endParaRPr lang="en-US" sz="1400" dirty="0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E318A8FE-F031-4B07-BAAC-B2BBBC6AE3F7}"/>
                </a:ext>
              </a:extLst>
            </p:cNvPr>
            <p:cNvSpPr/>
            <p:nvPr/>
          </p:nvSpPr>
          <p:spPr>
            <a:xfrm>
              <a:off x="1407469" y="119207"/>
              <a:ext cx="5152686" cy="87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 &amp; Problématique</a:t>
              </a:r>
              <a:endParaRPr lang="en-US" sz="1300" dirty="0"/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25B35390-4A08-F0C7-2C68-9B9CC07F20E4}"/>
                </a:ext>
              </a:extLst>
            </p:cNvPr>
            <p:cNvSpPr/>
            <p:nvPr/>
          </p:nvSpPr>
          <p:spPr>
            <a:xfrm>
              <a:off x="1407469" y="330966"/>
              <a:ext cx="5152686" cy="6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890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Contexte, motivation, objectifs</a:t>
              </a:r>
              <a:endParaRPr lang="en-US" sz="1000" dirty="0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39D50C27-37A5-7B5A-1A91-FBEB04F8EECD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DE253938-87FC-4D1B-4B44-05EAA2B10F40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DC111645-2495-A481-77B2-ED8FBCF9840B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E67D7C9-5AFF-D709-DC15-A98F120EEC18}"/>
              </a:ext>
            </a:extLst>
          </p:cNvPr>
          <p:cNvSpPr/>
          <p:nvPr/>
        </p:nvSpPr>
        <p:spPr>
          <a:xfrm>
            <a:off x="-15008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962A37D-4382-D9CB-7031-C77584130AD4}"/>
              </a:ext>
            </a:extLst>
          </p:cNvPr>
          <p:cNvSpPr/>
          <p:nvPr/>
        </p:nvSpPr>
        <p:spPr>
          <a:xfrm>
            <a:off x="274320" y="2119885"/>
            <a:ext cx="416427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source de feu dans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directions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manière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source et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obstacles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d'extinction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eau + servo-moteur)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données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environnementales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temps </a:t>
            </a:r>
            <a:r>
              <a:rPr lang="en-US" sz="11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LCD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1C91356-F59F-58B8-8114-6867385A8B6B}"/>
              </a:ext>
            </a:extLst>
          </p:cNvPr>
          <p:cNvSpPr/>
          <p:nvPr/>
        </p:nvSpPr>
        <p:spPr>
          <a:xfrm>
            <a:off x="595663" y="1228360"/>
            <a:ext cx="1897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500" b="1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500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500" dirty="0">
              <a:solidFill>
                <a:schemeClr val="accent2"/>
              </a:solidFill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AF67907-E8B1-40A6-A0F2-8A32AB1D25F7}"/>
              </a:ext>
            </a:extLst>
          </p:cNvPr>
          <p:cNvGrpSpPr/>
          <p:nvPr/>
        </p:nvGrpSpPr>
        <p:grpSpPr>
          <a:xfrm>
            <a:off x="5760720" y="1261872"/>
            <a:ext cx="2971800" cy="3291840"/>
            <a:chOff x="5760720" y="1261872"/>
            <a:chExt cx="2971800" cy="3291840"/>
          </a:xfrm>
        </p:grpSpPr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34D80D3C-E787-1152-7664-DCFC8948E89F}"/>
                </a:ext>
              </a:extLst>
            </p:cNvPr>
            <p:cNvSpPr/>
            <p:nvPr/>
          </p:nvSpPr>
          <p:spPr>
            <a:xfrm>
              <a:off x="5760720" y="1261872"/>
              <a:ext cx="2971800" cy="1024128"/>
            </a:xfrm>
            <a:prstGeom prst="rect">
              <a:avLst/>
            </a:prstGeom>
            <a:solidFill>
              <a:srgbClr val="E53935"/>
            </a:solidFill>
            <a:ln/>
            <a:effectLst>
              <a:outerShdw blurRad="1270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1FBB1A93-45F1-DD8B-BA8B-BAAE7BE4CB46}"/>
                </a:ext>
              </a:extLst>
            </p:cNvPr>
            <p:cNvSpPr/>
            <p:nvPr/>
          </p:nvSpPr>
          <p:spPr>
            <a:xfrm>
              <a:off x="5806440" y="1335024"/>
              <a:ext cx="2880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2.5M+</a:t>
              </a:r>
              <a:endParaRPr lang="en-US" sz="3200" dirty="0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9A0B8E7D-C7E1-5F52-E74E-B26978261B45}"/>
                </a:ext>
              </a:extLst>
            </p:cNvPr>
            <p:cNvSpPr/>
            <p:nvPr/>
          </p:nvSpPr>
          <p:spPr>
            <a:xfrm>
              <a:off x="5806440" y="1847088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incendies par an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dans le monde</a:t>
              </a:r>
              <a:endParaRPr lang="en-US" sz="1000" dirty="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6D2350DF-DDCD-221F-413E-B3D189F15F58}"/>
                </a:ext>
              </a:extLst>
            </p:cNvPr>
            <p:cNvSpPr/>
            <p:nvPr/>
          </p:nvSpPr>
          <p:spPr>
            <a:xfrm>
              <a:off x="5760720" y="2395728"/>
              <a:ext cx="2971800" cy="1024128"/>
            </a:xfrm>
            <a:prstGeom prst="rect">
              <a:avLst/>
            </a:prstGeom>
            <a:solidFill>
              <a:srgbClr val="FB8C00"/>
            </a:solidFill>
            <a:ln/>
            <a:effectLst>
              <a:outerShdw blurRad="1270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092D965A-F0CB-236A-04A9-B115813384E9}"/>
                </a:ext>
              </a:extLst>
            </p:cNvPr>
            <p:cNvSpPr/>
            <p:nvPr/>
          </p:nvSpPr>
          <p:spPr>
            <a:xfrm>
              <a:off x="5806440" y="2468880"/>
              <a:ext cx="2880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38 000</a:t>
              </a:r>
              <a:endParaRPr lang="en-US" sz="32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EE2F47E0-ED2F-2667-B358-F0A26CE3F98B}"/>
                </a:ext>
              </a:extLst>
            </p:cNvPr>
            <p:cNvSpPr/>
            <p:nvPr/>
          </p:nvSpPr>
          <p:spPr>
            <a:xfrm>
              <a:off x="5806440" y="2980944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pompiers blessés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chaque année (USA)</a:t>
              </a:r>
              <a:endParaRPr lang="en-US" sz="1000" dirty="0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A498C557-33A4-96AB-7051-619738BD8090}"/>
                </a:ext>
              </a:extLst>
            </p:cNvPr>
            <p:cNvSpPr/>
            <p:nvPr/>
          </p:nvSpPr>
          <p:spPr>
            <a:xfrm>
              <a:off x="5760720" y="3529584"/>
              <a:ext cx="2971800" cy="1024128"/>
            </a:xfrm>
            <a:prstGeom prst="rect">
              <a:avLst/>
            </a:prstGeom>
            <a:solidFill>
              <a:srgbClr val="1565C0"/>
            </a:solidFill>
            <a:ln/>
            <a:effectLst>
              <a:outerShdw blurRad="127000" dist="508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5754B8D0-2576-7466-E539-DD4D8360222A}"/>
                </a:ext>
              </a:extLst>
            </p:cNvPr>
            <p:cNvSpPr/>
            <p:nvPr/>
          </p:nvSpPr>
          <p:spPr>
            <a:xfrm>
              <a:off x="5806440" y="3602736"/>
              <a:ext cx="2880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3200" dirty="0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FEDA8582-85C2-9CFB-0885-45DA7515D52F}"/>
                </a:ext>
              </a:extLst>
            </p:cNvPr>
            <p:cNvSpPr/>
            <p:nvPr/>
          </p:nvSpPr>
          <p:spPr>
            <a:xfrm>
              <a:off x="5806440" y="4114800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EC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sans opérateur humain</a:t>
              </a:r>
              <a:endParaRPr lang="en-US" sz="1000" dirty="0"/>
            </a:p>
          </p:txBody>
        </p:sp>
      </p:grpSp>
      <p:sp>
        <p:nvSpPr>
          <p:cNvPr id="26" name="Text 2">
            <a:extLst>
              <a:ext uri="{FF2B5EF4-FFF2-40B4-BE49-F238E27FC236}">
                <a16:creationId xmlns:a16="http://schemas.microsoft.com/office/drawing/2014/main" id="{6018D744-99CD-C923-415B-7647E6A4639D}"/>
              </a:ext>
            </a:extLst>
          </p:cNvPr>
          <p:cNvSpPr/>
          <p:nvPr/>
        </p:nvSpPr>
        <p:spPr>
          <a:xfrm>
            <a:off x="2575560" y="53374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Motivation</a:t>
            </a:r>
            <a:endParaRPr lang="en-US" sz="2600" dirty="0">
              <a:solidFill>
                <a:schemeClr val="accent4"/>
              </a:solidFill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9C5911B-1706-3278-56D1-671BA94DB8E4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64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BA33-552C-ECA4-A1AE-E3729DCA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84CF66-A811-0D96-92A7-25C22D7AD688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852E520-244D-D24B-8167-BE4E224C0E9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C3A0AA8-58B7-1419-0403-023675C2BAD5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862094-6F8A-BC44-4C8C-EED6ABF55F30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EF6F87C-3A19-2383-0232-88B38AE83A2D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DE46800-BF1A-EFD0-B6F1-7845174EC9EE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4D120EC-D8EB-C5F7-6955-EF845B9D9195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60A4046-7CC0-F87D-FACA-FD6235A77D11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CF2696E-702E-F618-4222-E9FFDD53CA96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6E9C3BD-F69B-88F6-02EF-157DD554AA00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4A532CE-0DE2-41A3-85A0-E5661CE1412F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8EBD1E3-A3E5-9752-EEC3-AA72BF0CBFFD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7F01A8E-8152-F04A-EB6D-A5EE9090FD04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4B31BADD-6F81-9ED9-0E1E-93C949ABB0E7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3BA9416-FD38-9174-4697-9904F014A60F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51C4B9B-D82D-4A26-62C4-77656FE3843E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C16D2E40-7079-E9DF-948F-6B09800E826A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ADF7E039-9619-A453-3A24-793F0E1F8756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9F898C3D-DAF1-5106-DCAB-2079213E71B2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ADE5ABF-5E88-23D5-6682-D2AE19DD4823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3B9D54B-93E0-C554-97C7-0AC253DC1895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E461C1C1-7428-39E5-9BE0-47BE3821253B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7DA3BFD-08AE-7B9B-B106-B0C57A7E96D5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72A8861-D240-2948-495B-5D2A4F4403B9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6732797E-C511-1B2E-8F26-B53DDEA42A51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D0A8BBEF-DD41-24C4-CCF9-6BF298488DA8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1D0DED24-DFCB-111F-588A-495AAC6EBDD1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765E5394-8B8A-A237-BE0B-17CB2C6CB3D1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54F16507-85BC-AF84-D8B2-FA711F4F7FA7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0DB36F4-6486-0BE6-1605-3B81291238CC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1A74F2E1-766D-2004-88EC-965D8A5DB1B0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F7D00919-358E-5666-614E-BAE800ED9815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D41DB6AD-477D-613C-616B-65D098A2B76A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4394101D-701B-CABE-7A6A-9DBBC445568E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77E2AF1E-1800-7FC8-E5D3-BD1C8C241D45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569E809E-9749-A302-58F1-270ED0D776F9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C50DD499-22C8-50D0-5907-0717FF3D994D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2DE781C1-C3E6-02B3-C04C-A97D4B27BBB1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F88ABABC-A128-FDEB-14B1-F9BE01CD3388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D54522A3-DBB7-7693-288B-4FD204C1F8E1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29D0DF82-7BE9-5A8A-E36D-2547C69E8BFA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64FA0611-617C-ED70-E5AF-7F2A5791B855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CE7DCE7A-7DB1-001A-D5A7-11B1029087EF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98A1950F-3A64-748E-6491-66574F84A617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EF832E4E-431D-9E74-DEC3-BF954FB43932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E11860CD-8B75-9164-AA04-B414DB892D49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8E35806B-DA6C-DD1E-EB7E-1B20DF9A1C2B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CC6E03C-71EE-9035-4BFD-9F1A638D24B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8E4DAFD-246E-D952-26EA-3F95D93AE03A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B178F0C6-48AE-BBC4-8D9A-A8DA3061C4AB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7A8E4224-CA72-4E77-2472-5CD276914634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393B2B30-9056-93B0-BAB6-53D0E8080978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3B3EC7F-FDDE-2B64-0EF7-D915CB2B24D1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2D99C767-D423-5815-7669-ED511D3DCB5F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D8C08B54-2AD6-7A62-4681-72E4CD9628A2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563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B1E9-7F31-0018-BC39-CAA9E442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78E84B0F-484B-3130-4EF4-357F3F8C2CEE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428FB640-659B-38E9-824D-1BDF414DDC50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6EE3B43A-47FC-77C2-C99B-1F383AC8A6D9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92FFE50D-F119-3C12-9763-88876DBE91B0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C17A2DBC-7933-1BF9-CECB-102D1D7C6C1D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536DF876-E29A-C18E-840A-898094C139CB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7CEB0B3-8CC3-6BEF-191F-98B2926AFC25}"/>
              </a:ext>
            </a:extLst>
          </p:cNvPr>
          <p:cNvSpPr/>
          <p:nvPr/>
        </p:nvSpPr>
        <p:spPr>
          <a:xfrm>
            <a:off x="-15008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22AF3325-0E6F-2E8D-A33A-E4A85F2E934F}"/>
              </a:ext>
            </a:extLst>
          </p:cNvPr>
          <p:cNvSpPr/>
          <p:nvPr/>
        </p:nvSpPr>
        <p:spPr>
          <a:xfrm>
            <a:off x="2575560" y="53374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</a:t>
            </a: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Fonctionnelles</a:t>
            </a: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ABD4C76-D036-B657-55C9-2E55DE192067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C9523B1C-DD2A-0715-F206-F305781482EE}"/>
              </a:ext>
            </a:extLst>
          </p:cNvPr>
          <p:cNvSpPr/>
          <p:nvPr/>
        </p:nvSpPr>
        <p:spPr>
          <a:xfrm>
            <a:off x="330487" y="-153145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97924373-1449-7C43-A7AD-42BC07B451F8}"/>
              </a:ext>
            </a:extLst>
          </p:cNvPr>
          <p:cNvSpPr/>
          <p:nvPr/>
        </p:nvSpPr>
        <p:spPr>
          <a:xfrm>
            <a:off x="1444105" y="6684"/>
            <a:ext cx="3120391" cy="23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DA09C437-369D-F556-706B-4A4615CAF441}"/>
              </a:ext>
            </a:extLst>
          </p:cNvPr>
          <p:cNvSpPr/>
          <p:nvPr/>
        </p:nvSpPr>
        <p:spPr>
          <a:xfrm>
            <a:off x="1444104" y="255267"/>
            <a:ext cx="3120391" cy="17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753E99-1544-1F87-B8FC-6AB2F693CF49}"/>
              </a:ext>
            </a:extLst>
          </p:cNvPr>
          <p:cNvSpPr/>
          <p:nvPr/>
        </p:nvSpPr>
        <p:spPr>
          <a:xfrm>
            <a:off x="292608" y="1199372"/>
            <a:ext cx="8321040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99F7C6E-5D2D-4E12-E3BE-D47CDC656755}"/>
              </a:ext>
            </a:extLst>
          </p:cNvPr>
          <p:cNvSpPr/>
          <p:nvPr/>
        </p:nvSpPr>
        <p:spPr>
          <a:xfrm>
            <a:off x="292608" y="1199372"/>
            <a:ext cx="658368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8146BF5-2CAC-0C9C-285B-B48D57EC29F7}"/>
              </a:ext>
            </a:extLst>
          </p:cNvPr>
          <p:cNvSpPr/>
          <p:nvPr/>
        </p:nvSpPr>
        <p:spPr>
          <a:xfrm>
            <a:off x="292608" y="119937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RF01</a:t>
            </a:r>
            <a:endParaRPr lang="en-US" sz="10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9FEEF8F-E64A-CC2C-8F37-87DB29924381}"/>
              </a:ext>
            </a:extLst>
          </p:cNvPr>
          <p:cNvSpPr/>
          <p:nvPr/>
        </p:nvSpPr>
        <p:spPr>
          <a:xfrm>
            <a:off x="1042416" y="1327388"/>
            <a:ext cx="868680" cy="27432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C5FFFE2-8ADF-F41F-6DDC-6319260516E5}"/>
              </a:ext>
            </a:extLst>
          </p:cNvPr>
          <p:cNvSpPr/>
          <p:nvPr/>
        </p:nvSpPr>
        <p:spPr>
          <a:xfrm>
            <a:off x="1042416" y="13273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CRITIQUE</a:t>
            </a:r>
            <a:endParaRPr lang="en-US" sz="75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717406D-AAD4-7431-5A6E-F4CC2E290F2C}"/>
              </a:ext>
            </a:extLst>
          </p:cNvPr>
          <p:cNvSpPr/>
          <p:nvPr/>
        </p:nvSpPr>
        <p:spPr>
          <a:xfrm>
            <a:off x="2002536" y="12450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feu</a:t>
            </a: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36DF6365-F476-7F74-2485-84CC08DC5688}"/>
              </a:ext>
            </a:extLst>
          </p:cNvPr>
          <p:cNvSpPr/>
          <p:nvPr/>
        </p:nvSpPr>
        <p:spPr>
          <a:xfrm>
            <a:off x="2002536" y="1491980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un incendie dans un rayon de ~50 cm via capteurs IR (FC, FL, FR, BL, BR)</a:t>
            </a:r>
            <a:endParaRPr lang="en-US" sz="95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9AF492E4-57E0-4CB5-87F3-2912AE898AAB}"/>
              </a:ext>
            </a:extLst>
          </p:cNvPr>
          <p:cNvSpPr/>
          <p:nvPr/>
        </p:nvSpPr>
        <p:spPr>
          <a:xfrm>
            <a:off x="292608" y="1821164"/>
            <a:ext cx="8321040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6ADA6576-7D73-EA0C-8003-63772994876C}"/>
              </a:ext>
            </a:extLst>
          </p:cNvPr>
          <p:cNvSpPr/>
          <p:nvPr/>
        </p:nvSpPr>
        <p:spPr>
          <a:xfrm>
            <a:off x="292608" y="1821164"/>
            <a:ext cx="658368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821EA837-CF0D-AC9E-1878-AFC416F78A50}"/>
              </a:ext>
            </a:extLst>
          </p:cNvPr>
          <p:cNvSpPr/>
          <p:nvPr/>
        </p:nvSpPr>
        <p:spPr>
          <a:xfrm>
            <a:off x="292608" y="182116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RF02</a:t>
            </a:r>
            <a:endParaRPr lang="en-US" sz="10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E042DAB3-FD38-DCCC-601D-3110F078E1E1}"/>
              </a:ext>
            </a:extLst>
          </p:cNvPr>
          <p:cNvSpPr/>
          <p:nvPr/>
        </p:nvSpPr>
        <p:spPr>
          <a:xfrm>
            <a:off x="1042416" y="1949180"/>
            <a:ext cx="868680" cy="27432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EB379048-90E0-59D4-CB07-BB1267AB9B6D}"/>
              </a:ext>
            </a:extLst>
          </p:cNvPr>
          <p:cNvSpPr/>
          <p:nvPr/>
        </p:nvSpPr>
        <p:spPr>
          <a:xfrm>
            <a:off x="1042416" y="19491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CRITIQUE</a:t>
            </a:r>
            <a:endParaRPr lang="en-US" sz="75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8D49C39F-2D45-A05D-71B6-E20091219A3B}"/>
              </a:ext>
            </a:extLst>
          </p:cNvPr>
          <p:cNvSpPr/>
          <p:nvPr/>
        </p:nvSpPr>
        <p:spPr>
          <a:xfrm>
            <a:off x="2002536" y="18668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autonome</a:t>
            </a:r>
            <a:endParaRPr lang="en-US" sz="12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2D33995F-9383-3BAA-87FA-78CF4E17167F}"/>
              </a:ext>
            </a:extLst>
          </p:cNvPr>
          <p:cNvSpPr/>
          <p:nvPr/>
        </p:nvSpPr>
        <p:spPr>
          <a:xfrm>
            <a:off x="2002536" y="2113772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déplacer librement, avancer en mode recherche, </a:t>
            </a:r>
            <a:r>
              <a:rPr lang="en-US" sz="950" dirty="0" err="1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tourner</a:t>
            </a: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 la source détectée</a:t>
            </a:r>
            <a:endParaRPr lang="en-US" sz="950" dirty="0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45CA8F43-6566-E8A8-A3FF-2875E4655C57}"/>
              </a:ext>
            </a:extLst>
          </p:cNvPr>
          <p:cNvSpPr/>
          <p:nvPr/>
        </p:nvSpPr>
        <p:spPr>
          <a:xfrm>
            <a:off x="292608" y="2442956"/>
            <a:ext cx="8321040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23A776B5-9088-0123-4131-51ED7B7B756F}"/>
              </a:ext>
            </a:extLst>
          </p:cNvPr>
          <p:cNvSpPr/>
          <p:nvPr/>
        </p:nvSpPr>
        <p:spPr>
          <a:xfrm>
            <a:off x="292608" y="2442956"/>
            <a:ext cx="658368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DF7E717D-1429-82B1-1D98-4B6186213053}"/>
              </a:ext>
            </a:extLst>
          </p:cNvPr>
          <p:cNvSpPr/>
          <p:nvPr/>
        </p:nvSpPr>
        <p:spPr>
          <a:xfrm>
            <a:off x="292608" y="244295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RF03</a:t>
            </a:r>
            <a:endParaRPr lang="en-US" sz="1000" dirty="0"/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D356A178-B25D-4D14-0A40-555B2CA4FCBE}"/>
              </a:ext>
            </a:extLst>
          </p:cNvPr>
          <p:cNvSpPr/>
          <p:nvPr/>
        </p:nvSpPr>
        <p:spPr>
          <a:xfrm>
            <a:off x="1042416" y="2570972"/>
            <a:ext cx="868680" cy="27432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6F82C491-CDD9-A034-2927-9C7E03C039D1}"/>
              </a:ext>
            </a:extLst>
          </p:cNvPr>
          <p:cNvSpPr/>
          <p:nvPr/>
        </p:nvSpPr>
        <p:spPr>
          <a:xfrm>
            <a:off x="1042416" y="25709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ÉLEVÉE</a:t>
            </a:r>
            <a:endParaRPr lang="en-US" sz="750" dirty="0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D573DA66-CD93-0BFE-0848-4E2E7F94DBB4}"/>
              </a:ext>
            </a:extLst>
          </p:cNvPr>
          <p:cNvSpPr/>
          <p:nvPr/>
        </p:nvSpPr>
        <p:spPr>
          <a:xfrm>
            <a:off x="2002536" y="24886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Évitement d'obstacles</a:t>
            </a:r>
            <a:endParaRPr lang="en-US" sz="12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43DE04E3-0CB2-4CAE-34DF-1C4975424A8D}"/>
              </a:ext>
            </a:extLst>
          </p:cNvPr>
          <p:cNvSpPr/>
          <p:nvPr/>
        </p:nvSpPr>
        <p:spPr>
          <a:xfrm>
            <a:off x="2002536" y="2735564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tout obstacle à moins de 20 cm et effectuer une manœuvre d'évitement automatique</a:t>
            </a:r>
            <a:endParaRPr lang="en-US" sz="950" dirty="0"/>
          </a:p>
        </p:txBody>
      </p:sp>
      <p:sp>
        <p:nvSpPr>
          <p:cNvPr id="44" name="Shape 28">
            <a:extLst>
              <a:ext uri="{FF2B5EF4-FFF2-40B4-BE49-F238E27FC236}">
                <a16:creationId xmlns:a16="http://schemas.microsoft.com/office/drawing/2014/main" id="{81236956-3414-F085-B66E-95F2496FE3D7}"/>
              </a:ext>
            </a:extLst>
          </p:cNvPr>
          <p:cNvSpPr/>
          <p:nvPr/>
        </p:nvSpPr>
        <p:spPr>
          <a:xfrm>
            <a:off x="292608" y="3064748"/>
            <a:ext cx="8321040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29">
            <a:extLst>
              <a:ext uri="{FF2B5EF4-FFF2-40B4-BE49-F238E27FC236}">
                <a16:creationId xmlns:a16="http://schemas.microsoft.com/office/drawing/2014/main" id="{6B038931-93A7-8EDF-C371-89F0F91C38F2}"/>
              </a:ext>
            </a:extLst>
          </p:cNvPr>
          <p:cNvSpPr/>
          <p:nvPr/>
        </p:nvSpPr>
        <p:spPr>
          <a:xfrm>
            <a:off x="292608" y="3064748"/>
            <a:ext cx="658368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02FB4BDC-865B-19A0-081B-C5CD2459086A}"/>
              </a:ext>
            </a:extLst>
          </p:cNvPr>
          <p:cNvSpPr/>
          <p:nvPr/>
        </p:nvSpPr>
        <p:spPr>
          <a:xfrm>
            <a:off x="292608" y="306474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RF04</a:t>
            </a:r>
            <a:endParaRPr lang="en-US" sz="1000" dirty="0"/>
          </a:p>
        </p:txBody>
      </p:sp>
      <p:sp>
        <p:nvSpPr>
          <p:cNvPr id="52" name="Shape 31">
            <a:extLst>
              <a:ext uri="{FF2B5EF4-FFF2-40B4-BE49-F238E27FC236}">
                <a16:creationId xmlns:a16="http://schemas.microsoft.com/office/drawing/2014/main" id="{E8508D48-3E2A-B99B-61CF-E3969F9D32FB}"/>
              </a:ext>
            </a:extLst>
          </p:cNvPr>
          <p:cNvSpPr/>
          <p:nvPr/>
        </p:nvSpPr>
        <p:spPr>
          <a:xfrm>
            <a:off x="1042416" y="3192764"/>
            <a:ext cx="868680" cy="27432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2DE87354-3BDA-2D5F-56ED-D09AB38746BB}"/>
              </a:ext>
            </a:extLst>
          </p:cNvPr>
          <p:cNvSpPr/>
          <p:nvPr/>
        </p:nvSpPr>
        <p:spPr>
          <a:xfrm>
            <a:off x="1042416" y="31927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CRITIQUE</a:t>
            </a:r>
            <a:endParaRPr lang="en-US" sz="750" dirty="0"/>
          </a:p>
        </p:txBody>
      </p:sp>
      <p:sp>
        <p:nvSpPr>
          <p:cNvPr id="54" name="Text 33">
            <a:extLst>
              <a:ext uri="{FF2B5EF4-FFF2-40B4-BE49-F238E27FC236}">
                <a16:creationId xmlns:a16="http://schemas.microsoft.com/office/drawing/2014/main" id="{432F4A2C-D14D-4DD9-5117-AB30F442D027}"/>
              </a:ext>
            </a:extLst>
          </p:cNvPr>
          <p:cNvSpPr/>
          <p:nvPr/>
        </p:nvSpPr>
        <p:spPr>
          <a:xfrm>
            <a:off x="2002536" y="31104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d'extinction</a:t>
            </a:r>
            <a:endParaRPr lang="en-US" sz="1200" dirty="0"/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F205EF2F-9594-ACA5-6963-6EA0EC50FCE5}"/>
              </a:ext>
            </a:extLst>
          </p:cNvPr>
          <p:cNvSpPr/>
          <p:nvPr/>
        </p:nvSpPr>
        <p:spPr>
          <a:xfrm>
            <a:off x="2002536" y="3357356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pompe et effectuer un balayage servo 10°–170° pour couvrir la zone de feu</a:t>
            </a:r>
            <a:endParaRPr lang="en-US" sz="950" dirty="0"/>
          </a:p>
        </p:txBody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A6178887-F061-1374-C001-CF77F45E959A}"/>
              </a:ext>
            </a:extLst>
          </p:cNvPr>
          <p:cNvSpPr/>
          <p:nvPr/>
        </p:nvSpPr>
        <p:spPr>
          <a:xfrm>
            <a:off x="292608" y="3686540"/>
            <a:ext cx="8321040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Shape 36">
            <a:extLst>
              <a:ext uri="{FF2B5EF4-FFF2-40B4-BE49-F238E27FC236}">
                <a16:creationId xmlns:a16="http://schemas.microsoft.com/office/drawing/2014/main" id="{58B2894F-AA31-7259-6A9A-E13863722080}"/>
              </a:ext>
            </a:extLst>
          </p:cNvPr>
          <p:cNvSpPr/>
          <p:nvPr/>
        </p:nvSpPr>
        <p:spPr>
          <a:xfrm>
            <a:off x="292608" y="3686540"/>
            <a:ext cx="658368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37">
            <a:extLst>
              <a:ext uri="{FF2B5EF4-FFF2-40B4-BE49-F238E27FC236}">
                <a16:creationId xmlns:a16="http://schemas.microsoft.com/office/drawing/2014/main" id="{C74736A7-975E-E609-B11B-90A7696CD1FB}"/>
              </a:ext>
            </a:extLst>
          </p:cNvPr>
          <p:cNvSpPr/>
          <p:nvPr/>
        </p:nvSpPr>
        <p:spPr>
          <a:xfrm>
            <a:off x="292608" y="368654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RF05</a:t>
            </a:r>
            <a:endParaRPr lang="en-US" sz="1000" dirty="0"/>
          </a:p>
        </p:txBody>
      </p:sp>
      <p:sp>
        <p:nvSpPr>
          <p:cNvPr id="60" name="Shape 38">
            <a:extLst>
              <a:ext uri="{FF2B5EF4-FFF2-40B4-BE49-F238E27FC236}">
                <a16:creationId xmlns:a16="http://schemas.microsoft.com/office/drawing/2014/main" id="{E7340930-8D92-0266-DF69-0681509E6B00}"/>
              </a:ext>
            </a:extLst>
          </p:cNvPr>
          <p:cNvSpPr/>
          <p:nvPr/>
        </p:nvSpPr>
        <p:spPr>
          <a:xfrm>
            <a:off x="1042416" y="3814556"/>
            <a:ext cx="868680" cy="2743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39">
            <a:extLst>
              <a:ext uri="{FF2B5EF4-FFF2-40B4-BE49-F238E27FC236}">
                <a16:creationId xmlns:a16="http://schemas.microsoft.com/office/drawing/2014/main" id="{A9B3F6AB-F2B6-8AE7-D578-94A4B849BC98}"/>
              </a:ext>
            </a:extLst>
          </p:cNvPr>
          <p:cNvSpPr/>
          <p:nvPr/>
        </p:nvSpPr>
        <p:spPr>
          <a:xfrm>
            <a:off x="1042416" y="38145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NORMALE</a:t>
            </a:r>
            <a:endParaRPr lang="en-US" sz="750" dirty="0"/>
          </a:p>
        </p:txBody>
      </p:sp>
      <p:sp>
        <p:nvSpPr>
          <p:cNvPr id="62" name="Text 40">
            <a:extLst>
              <a:ext uri="{FF2B5EF4-FFF2-40B4-BE49-F238E27FC236}">
                <a16:creationId xmlns:a16="http://schemas.microsoft.com/office/drawing/2014/main" id="{E866410E-C174-F12B-8474-16C0EC024FFE}"/>
              </a:ext>
            </a:extLst>
          </p:cNvPr>
          <p:cNvSpPr/>
          <p:nvPr/>
        </p:nvSpPr>
        <p:spPr>
          <a:xfrm>
            <a:off x="2002536" y="37322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LCD temps réel</a:t>
            </a:r>
            <a:endParaRPr lang="en-US" sz="1200" dirty="0"/>
          </a:p>
        </p:txBody>
      </p:sp>
      <p:sp>
        <p:nvSpPr>
          <p:cNvPr id="63" name="Text 41">
            <a:extLst>
              <a:ext uri="{FF2B5EF4-FFF2-40B4-BE49-F238E27FC236}">
                <a16:creationId xmlns:a16="http://schemas.microsoft.com/office/drawing/2014/main" id="{511D2D0F-6660-93F6-349F-33C409A83920}"/>
              </a:ext>
            </a:extLst>
          </p:cNvPr>
          <p:cNvSpPr/>
          <p:nvPr/>
        </p:nvSpPr>
        <p:spPr>
          <a:xfrm>
            <a:off x="2002536" y="3979148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température et humidité (DHT22) sur écran LCD I2C 16×2 toutes les 2 secondes</a:t>
            </a:r>
            <a:endParaRPr lang="en-US" sz="950" dirty="0"/>
          </a:p>
        </p:txBody>
      </p:sp>
      <p:sp>
        <p:nvSpPr>
          <p:cNvPr id="64" name="Shape 42">
            <a:extLst>
              <a:ext uri="{FF2B5EF4-FFF2-40B4-BE49-F238E27FC236}">
                <a16:creationId xmlns:a16="http://schemas.microsoft.com/office/drawing/2014/main" id="{8E3DA033-77CD-5926-0BF7-BF37BA3386BA}"/>
              </a:ext>
            </a:extLst>
          </p:cNvPr>
          <p:cNvSpPr/>
          <p:nvPr/>
        </p:nvSpPr>
        <p:spPr>
          <a:xfrm>
            <a:off x="292608" y="4308332"/>
            <a:ext cx="8321040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6" name="Shape 43">
            <a:extLst>
              <a:ext uri="{FF2B5EF4-FFF2-40B4-BE49-F238E27FC236}">
                <a16:creationId xmlns:a16="http://schemas.microsoft.com/office/drawing/2014/main" id="{6FC44060-160C-5C3E-487F-825214F622DF}"/>
              </a:ext>
            </a:extLst>
          </p:cNvPr>
          <p:cNvSpPr/>
          <p:nvPr/>
        </p:nvSpPr>
        <p:spPr>
          <a:xfrm>
            <a:off x="292608" y="4308332"/>
            <a:ext cx="658368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44">
            <a:extLst>
              <a:ext uri="{FF2B5EF4-FFF2-40B4-BE49-F238E27FC236}">
                <a16:creationId xmlns:a16="http://schemas.microsoft.com/office/drawing/2014/main" id="{DEF7751F-02CD-90B9-EB39-D9F6579F0EBB}"/>
              </a:ext>
            </a:extLst>
          </p:cNvPr>
          <p:cNvSpPr/>
          <p:nvPr/>
        </p:nvSpPr>
        <p:spPr>
          <a:xfrm>
            <a:off x="292608" y="430833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RF06</a:t>
            </a:r>
            <a:endParaRPr lang="en-US" sz="1000" dirty="0"/>
          </a:p>
        </p:txBody>
      </p:sp>
      <p:sp>
        <p:nvSpPr>
          <p:cNvPr id="68" name="Shape 45">
            <a:extLst>
              <a:ext uri="{FF2B5EF4-FFF2-40B4-BE49-F238E27FC236}">
                <a16:creationId xmlns:a16="http://schemas.microsoft.com/office/drawing/2014/main" id="{F4CA9045-418B-DFE7-6D39-6C2E3E88B87A}"/>
              </a:ext>
            </a:extLst>
          </p:cNvPr>
          <p:cNvSpPr/>
          <p:nvPr/>
        </p:nvSpPr>
        <p:spPr>
          <a:xfrm>
            <a:off x="1042416" y="4436348"/>
            <a:ext cx="868680" cy="27432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46">
            <a:extLst>
              <a:ext uri="{FF2B5EF4-FFF2-40B4-BE49-F238E27FC236}">
                <a16:creationId xmlns:a16="http://schemas.microsoft.com/office/drawing/2014/main" id="{ABB61DCA-B5F0-EF75-623A-C807E2143C57}"/>
              </a:ext>
            </a:extLst>
          </p:cNvPr>
          <p:cNvSpPr/>
          <p:nvPr/>
        </p:nvSpPr>
        <p:spPr>
          <a:xfrm>
            <a:off x="1042416" y="44363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ÉLEVÉE</a:t>
            </a:r>
            <a:endParaRPr lang="en-US" sz="750" dirty="0"/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B7DA27DD-8E12-A558-294B-72CD87E0AA74}"/>
              </a:ext>
            </a:extLst>
          </p:cNvPr>
          <p:cNvSpPr/>
          <p:nvPr/>
        </p:nvSpPr>
        <p:spPr>
          <a:xfrm>
            <a:off x="2002536" y="43540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de sécurité</a:t>
            </a:r>
            <a:endParaRPr lang="en-US" sz="1200" dirty="0"/>
          </a:p>
        </p:txBody>
      </p:sp>
      <p:sp>
        <p:nvSpPr>
          <p:cNvPr id="71" name="Text 48">
            <a:extLst>
              <a:ext uri="{FF2B5EF4-FFF2-40B4-BE49-F238E27FC236}">
                <a16:creationId xmlns:a16="http://schemas.microsoft.com/office/drawing/2014/main" id="{A20A085A-51C4-2D77-BDF4-67C02EBBD766}"/>
              </a:ext>
            </a:extLst>
          </p:cNvPr>
          <p:cNvSpPr/>
          <p:nvPr/>
        </p:nvSpPr>
        <p:spPr>
          <a:xfrm>
            <a:off x="2002536" y="4600940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la pompe dès que le capteur central FC ne détecte plus de feu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3341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F012-0E8E-862E-2E72-E3EEA26D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FC440BE6-D156-4330-4822-07D98CDE3136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EFB6B376-5A83-4062-DDBE-745C2251ADEA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D222D070-BBCA-594F-F6D8-C0C786EF7A0A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98DDF98F-F7D9-C287-2D36-740A1A3DD54B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0048097D-4DA9-7E2D-3C6F-B83511A2261F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805BB595-E8AE-37DF-708A-39906B4E95B3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E2C3380-F655-043E-A163-511A68A08455}"/>
              </a:ext>
            </a:extLst>
          </p:cNvPr>
          <p:cNvSpPr/>
          <p:nvPr/>
        </p:nvSpPr>
        <p:spPr>
          <a:xfrm>
            <a:off x="-15008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E4376A0B-1311-94A2-7641-EA2D12528652}"/>
              </a:ext>
            </a:extLst>
          </p:cNvPr>
          <p:cNvSpPr/>
          <p:nvPr/>
        </p:nvSpPr>
        <p:spPr>
          <a:xfrm>
            <a:off x="2575560" y="53374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</a:t>
            </a: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Techniques</a:t>
            </a: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801FD45-CC7C-F621-3DC2-2DB0EB28C62B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62CDC70C-BF32-A7E0-898B-B3DF7948C74D}"/>
              </a:ext>
            </a:extLst>
          </p:cNvPr>
          <p:cNvSpPr/>
          <p:nvPr/>
        </p:nvSpPr>
        <p:spPr>
          <a:xfrm>
            <a:off x="330487" y="-153145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C19CF086-6CC5-BCC5-CD97-2FB91136B541}"/>
              </a:ext>
            </a:extLst>
          </p:cNvPr>
          <p:cNvSpPr/>
          <p:nvPr/>
        </p:nvSpPr>
        <p:spPr>
          <a:xfrm>
            <a:off x="1444105" y="6684"/>
            <a:ext cx="3120391" cy="23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A1947344-3EB2-DE82-2CE9-621C7C6D157E}"/>
              </a:ext>
            </a:extLst>
          </p:cNvPr>
          <p:cNvSpPr/>
          <p:nvPr/>
        </p:nvSpPr>
        <p:spPr>
          <a:xfrm>
            <a:off x="1444104" y="255267"/>
            <a:ext cx="3120391" cy="17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77EDE86D-A073-7FB7-E230-2BDE1B3C9770}"/>
              </a:ext>
            </a:extLst>
          </p:cNvPr>
          <p:cNvSpPr/>
          <p:nvPr/>
        </p:nvSpPr>
        <p:spPr>
          <a:xfrm>
            <a:off x="411480" y="1261872"/>
            <a:ext cx="397764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4E627981-BE35-1B8D-C3E0-286A482F1E60}"/>
              </a:ext>
            </a:extLst>
          </p:cNvPr>
          <p:cNvSpPr/>
          <p:nvPr/>
        </p:nvSpPr>
        <p:spPr>
          <a:xfrm>
            <a:off x="411480" y="12618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&amp; MESURES</a:t>
            </a:r>
            <a:endParaRPr lang="en-US" sz="11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C62AC8E6-72F9-8340-B285-AEB0CFE5E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06337"/>
              </p:ext>
            </p:extLst>
          </p:nvPr>
        </p:nvGraphicFramePr>
        <p:xfrm>
          <a:off x="411480" y="1627632"/>
          <a:ext cx="3977640" cy="315163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Paramètre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Valeur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Vitesse de recherche (searchSpeed)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160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PWM / 255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Vitesse de rotation (turnSpeed)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PWM / 255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Seuil détection obstacle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cm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Angle balayage servo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10 → 170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degrés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Fréquence lecture DHT22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toutes 2 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Tension alimentation moteurs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6–9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V DC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Fréquence PWM servo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Hz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Shape 9">
            <a:extLst>
              <a:ext uri="{FF2B5EF4-FFF2-40B4-BE49-F238E27FC236}">
                <a16:creationId xmlns:a16="http://schemas.microsoft.com/office/drawing/2014/main" id="{EC829543-3721-62B8-181F-08C30D7EC68D}"/>
              </a:ext>
            </a:extLst>
          </p:cNvPr>
          <p:cNvSpPr/>
          <p:nvPr/>
        </p:nvSpPr>
        <p:spPr>
          <a:xfrm>
            <a:off x="4754880" y="1261872"/>
            <a:ext cx="397764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648053C-D006-11E7-C676-0BE1DCF99F72}"/>
              </a:ext>
            </a:extLst>
          </p:cNvPr>
          <p:cNvSpPr/>
          <p:nvPr/>
        </p:nvSpPr>
        <p:spPr>
          <a:xfrm>
            <a:off x="4754880" y="12618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CONTRAINTES TECHNIQUES</a:t>
            </a:r>
            <a:endParaRPr lang="en-US" sz="11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90F908AA-8039-99B3-8270-E37E8E312A3B}"/>
              </a:ext>
            </a:extLst>
          </p:cNvPr>
          <p:cNvSpPr/>
          <p:nvPr/>
        </p:nvSpPr>
        <p:spPr>
          <a:xfrm>
            <a:off x="4754880" y="1664208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36AB73D-EDEB-935A-F311-55A7775429D4}"/>
              </a:ext>
            </a:extLst>
          </p:cNvPr>
          <p:cNvSpPr/>
          <p:nvPr/>
        </p:nvSpPr>
        <p:spPr>
          <a:xfrm>
            <a:off x="4828032" y="16824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Microcontrôleur</a:t>
            </a:r>
            <a:endParaRPr lang="en-US" sz="9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7919264-013A-065B-3223-176B594158C1}"/>
              </a:ext>
            </a:extLst>
          </p:cNvPr>
          <p:cNvSpPr/>
          <p:nvPr/>
        </p:nvSpPr>
        <p:spPr>
          <a:xfrm>
            <a:off x="4828032" y="18470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architecture 32 bits, 240 MHz, Wi-Fi/BT intégré</a:t>
            </a:r>
            <a:endParaRPr lang="en-US" sz="8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361AAE6-056E-936C-D222-F82486FE65D0}"/>
              </a:ext>
            </a:extLst>
          </p:cNvPr>
          <p:cNvSpPr/>
          <p:nvPr/>
        </p:nvSpPr>
        <p:spPr>
          <a:xfrm>
            <a:off x="4754880" y="2057400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FDC81FDC-2040-A6C8-BC1B-E75BE1247C1A}"/>
              </a:ext>
            </a:extLst>
          </p:cNvPr>
          <p:cNvSpPr/>
          <p:nvPr/>
        </p:nvSpPr>
        <p:spPr>
          <a:xfrm>
            <a:off x="4828032" y="2075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en H</a:t>
            </a:r>
            <a:endParaRPr lang="en-US" sz="9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3D34ED86-1266-6D26-5816-DD90C77B3DC6}"/>
              </a:ext>
            </a:extLst>
          </p:cNvPr>
          <p:cNvSpPr/>
          <p:nvPr/>
        </p:nvSpPr>
        <p:spPr>
          <a:xfrm>
            <a:off x="4828032" y="2240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— contrôle bidirectionnel 2 moteurs DC avec PWM</a:t>
            </a:r>
            <a:endParaRPr lang="en-US" sz="85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C0F0A08B-CAEA-4E57-7005-002B2F289856}"/>
              </a:ext>
            </a:extLst>
          </p:cNvPr>
          <p:cNvSpPr/>
          <p:nvPr/>
        </p:nvSpPr>
        <p:spPr>
          <a:xfrm>
            <a:off x="4754880" y="2450592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B24E0A29-662B-682A-835D-8FEB2C6FB328}"/>
              </a:ext>
            </a:extLst>
          </p:cNvPr>
          <p:cNvSpPr/>
          <p:nvPr/>
        </p:nvSpPr>
        <p:spPr>
          <a:xfrm>
            <a:off x="4828032" y="2468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feu</a:t>
            </a:r>
            <a:endParaRPr lang="en-US" sz="95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295E8CEE-B2B7-6060-3166-F19374C8F0DF}"/>
              </a:ext>
            </a:extLst>
          </p:cNvPr>
          <p:cNvSpPr/>
          <p:nvPr/>
        </p:nvSpPr>
        <p:spPr>
          <a:xfrm>
            <a:off x="4828032" y="26334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IR (LOW actif) — FC, FL, FR, BL, BR — GPIO 32–36</a:t>
            </a:r>
            <a:endParaRPr lang="en-US" sz="85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6F7AAAC9-AF42-08B6-C72D-64F2D9A77FFE}"/>
              </a:ext>
            </a:extLst>
          </p:cNvPr>
          <p:cNvSpPr/>
          <p:nvPr/>
        </p:nvSpPr>
        <p:spPr>
          <a:xfrm>
            <a:off x="4754880" y="2843784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CFA34194-109A-A5FB-5B47-6BFE6F5AF460}"/>
              </a:ext>
            </a:extLst>
          </p:cNvPr>
          <p:cNvSpPr/>
          <p:nvPr/>
        </p:nvSpPr>
        <p:spPr>
          <a:xfrm>
            <a:off x="4828032" y="2862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distance</a:t>
            </a:r>
            <a:endParaRPr lang="en-US" sz="950" dirty="0"/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46CB2C7A-8104-BF68-8B3A-82861E834AEE}"/>
              </a:ext>
            </a:extLst>
          </p:cNvPr>
          <p:cNvSpPr/>
          <p:nvPr/>
        </p:nvSpPr>
        <p:spPr>
          <a:xfrm>
            <a:off x="4828032" y="3026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ultrasonique — TRIG GPIO5, ECHO GPIO18</a:t>
            </a:r>
            <a:endParaRPr lang="en-US" sz="850" dirty="0"/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D02B2D9B-4B81-845A-DA21-2E83BD228DC8}"/>
              </a:ext>
            </a:extLst>
          </p:cNvPr>
          <p:cNvSpPr/>
          <p:nvPr/>
        </p:nvSpPr>
        <p:spPr>
          <a:xfrm>
            <a:off x="4754880" y="3236976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5633E371-05D1-1E85-24AB-04D879F1F665}"/>
              </a:ext>
            </a:extLst>
          </p:cNvPr>
          <p:cNvSpPr/>
          <p:nvPr/>
        </p:nvSpPr>
        <p:spPr>
          <a:xfrm>
            <a:off x="4828032" y="3255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Servo-moteur</a:t>
            </a:r>
            <a:endParaRPr lang="en-US" sz="950" dirty="0"/>
          </a:p>
        </p:txBody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AD79CB5A-95FC-F513-C190-E1CFF0FA7CFF}"/>
              </a:ext>
            </a:extLst>
          </p:cNvPr>
          <p:cNvSpPr/>
          <p:nvPr/>
        </p:nvSpPr>
        <p:spPr>
          <a:xfrm>
            <a:off x="4828032" y="34198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— GPIO 19, 500–2400 µs, fréquence 50 Hz</a:t>
            </a:r>
            <a:endParaRPr lang="en-US" sz="850" dirty="0"/>
          </a:p>
        </p:txBody>
      </p:sp>
      <p:sp>
        <p:nvSpPr>
          <p:cNvPr id="76" name="Shape 26">
            <a:extLst>
              <a:ext uri="{FF2B5EF4-FFF2-40B4-BE49-F238E27FC236}">
                <a16:creationId xmlns:a16="http://schemas.microsoft.com/office/drawing/2014/main" id="{3CE8A88E-CC5D-D8D8-C547-9ACAF219D697}"/>
              </a:ext>
            </a:extLst>
          </p:cNvPr>
          <p:cNvSpPr/>
          <p:nvPr/>
        </p:nvSpPr>
        <p:spPr>
          <a:xfrm>
            <a:off x="4754880" y="3630168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27">
            <a:extLst>
              <a:ext uri="{FF2B5EF4-FFF2-40B4-BE49-F238E27FC236}">
                <a16:creationId xmlns:a16="http://schemas.microsoft.com/office/drawing/2014/main" id="{142CC484-E9BC-2738-BD41-36557C67C595}"/>
              </a:ext>
            </a:extLst>
          </p:cNvPr>
          <p:cNvSpPr/>
          <p:nvPr/>
        </p:nvSpPr>
        <p:spPr>
          <a:xfrm>
            <a:off x="4828032" y="3648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 à eau</a:t>
            </a:r>
            <a:endParaRPr lang="en-US" sz="950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1A2E12C1-14EC-1F67-7595-0592F94C2AFB}"/>
              </a:ext>
            </a:extLst>
          </p:cNvPr>
          <p:cNvSpPr/>
          <p:nvPr/>
        </p:nvSpPr>
        <p:spPr>
          <a:xfrm>
            <a:off x="4828032" y="38130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GPIO 4 — activation PUMP_ON = HIGH</a:t>
            </a:r>
            <a:endParaRPr lang="en-US" sz="850" dirty="0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F40BA8E7-8BFD-F0EE-704D-33B41183CDFD}"/>
              </a:ext>
            </a:extLst>
          </p:cNvPr>
          <p:cNvSpPr/>
          <p:nvPr/>
        </p:nvSpPr>
        <p:spPr>
          <a:xfrm>
            <a:off x="4754880" y="4023360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121C3511-E2C5-CE4B-7904-249F5F2C04E1}"/>
              </a:ext>
            </a:extLst>
          </p:cNvPr>
          <p:cNvSpPr/>
          <p:nvPr/>
        </p:nvSpPr>
        <p:spPr>
          <a:xfrm>
            <a:off x="4828032" y="40416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950" dirty="0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BFED19EA-82C3-5601-7E4C-0E752CC34CB9}"/>
              </a:ext>
            </a:extLst>
          </p:cNvPr>
          <p:cNvSpPr/>
          <p:nvPr/>
        </p:nvSpPr>
        <p:spPr>
          <a:xfrm>
            <a:off x="4828032" y="4206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GPIO 15 — température + humidité relative</a:t>
            </a:r>
            <a:endParaRPr lang="en-US" sz="850" dirty="0"/>
          </a:p>
        </p:txBody>
      </p:sp>
      <p:sp>
        <p:nvSpPr>
          <p:cNvPr id="82" name="Shape 32">
            <a:extLst>
              <a:ext uri="{FF2B5EF4-FFF2-40B4-BE49-F238E27FC236}">
                <a16:creationId xmlns:a16="http://schemas.microsoft.com/office/drawing/2014/main" id="{86A4E84C-5CAE-119F-3722-A08EA67343FE}"/>
              </a:ext>
            </a:extLst>
          </p:cNvPr>
          <p:cNvSpPr/>
          <p:nvPr/>
        </p:nvSpPr>
        <p:spPr>
          <a:xfrm>
            <a:off x="4754880" y="4416552"/>
            <a:ext cx="3977640" cy="374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B0F5D964-835A-E2B7-3F5D-9CE69727BAFE}"/>
              </a:ext>
            </a:extLst>
          </p:cNvPr>
          <p:cNvSpPr/>
          <p:nvPr/>
        </p:nvSpPr>
        <p:spPr>
          <a:xfrm>
            <a:off x="4828032" y="44348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</a:t>
            </a:r>
            <a:endParaRPr lang="en-US" sz="950" dirty="0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B307F337-2EB1-3749-37CF-13E4E2EFC46F}"/>
              </a:ext>
            </a:extLst>
          </p:cNvPr>
          <p:cNvSpPr/>
          <p:nvPr/>
        </p:nvSpPr>
        <p:spPr>
          <a:xfrm>
            <a:off x="4828032" y="45994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 16×2 — adresse 0x27, bibliothèque LiquidCrystal_I2C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81422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0A34-85B4-C0B7-CFC1-BB4B3DCA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E6E879-1758-01E2-4D24-3AD3B6C86EEE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99E0577-A9CB-49D2-1C5E-AFF8F74F62F4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E5E588-A7CC-768A-2931-C2E944299175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C7F97A1-AF1F-C731-45BA-704742BC9C93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7E777FC-FE98-9D6B-2557-BE05223825BE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7BD0E52-3CA4-A21A-90F7-D3162B7A3EFF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16123CD-7CA6-0AD0-CD37-E4904ECF08A3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C30A81CC-2C96-74A2-0DB8-571AE07CCDA9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1E5ECB5-E83F-DE78-93C6-67EA37C3ED6E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0774068-A480-31E2-29E1-AD4A0A044C53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C5CDD98-EBC4-2C6F-3C41-8668DD8AE596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3611A3BE-98C6-E018-23E1-F7901515D1EE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25066485-925F-9661-A927-09E0A6159DB9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65675D5-864F-CA4D-21B4-259EBBCEAA49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DB46229-FC13-10EA-F215-0749EF4708C4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E782F2C-FF2C-153C-7789-19B34B1117CB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9916E87E-3737-9EC9-84D4-F3782B9C3876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188CE346-3B0E-25A5-9FBF-DFF9409E0BDD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7373AABE-5D22-43D2-0B27-DEB29FEC3ED6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3D4D752-2D0E-03EA-CCDE-F961057A3B94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7E727DB1-61E6-4132-889B-5BAD3D8FA184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13F43616-D035-8AC4-A1D7-E166D9B8DA4D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D790DC25-A4B7-FBB0-0FAD-870E14851D1F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2C02BC2D-3873-14C1-F934-C9A54309C54E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BC0CB7AC-5B82-C290-FC29-FB9310C01879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55E47A50-8FBF-C8D3-834D-1E3C40962DB3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39014918-59F2-FF2E-AEF8-774677847334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C141141A-F4DA-3A34-2E02-E3D9A002154E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CF5F0F46-E869-27ED-78DC-E97275FD5A6E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70BEA8E7-3E27-7083-8CAC-FF6EF2E25CE0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040CE9ED-5B30-1D1D-CB91-C0AB4949632E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B8159A54-E30F-BD04-7FE0-B9F6DD397E71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0BC2AB3D-AA09-D20B-046C-F2A2177913A2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663D3384-FA9C-05D3-0CE9-2260A8633B02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308AAF9-C3D9-773B-0AAF-D4E9F5B323F5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41A2B3F9-BC81-35BA-6C1C-0E799C087309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3F817B34-9B1D-11CD-5ACA-16FD432E59E4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6BF3CFD5-629F-C464-32FD-4515B55B1C28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3933764E-669F-22A7-81C2-5D55C2958541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F39DE7EE-1681-03D5-B1D2-973459D6200F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99A11F34-5CF6-3324-AE1E-16A69EE4BD56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189C997A-9B9E-83FE-635E-2070C0C2FB5E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C6FD8F21-4369-6547-DADC-AACDE7D014FE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5EBB4C59-D3D0-B77F-BB1E-7549C7DADD74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B9901453-46C3-0F9B-7AB7-5B69F5EB52DC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145247AD-55AE-A74A-D3EA-66CA40864C99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D5036063-2F8F-CE07-B40B-00D4077820B8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FE9FAC2E-BFEE-2B6C-8FD4-D6E2D29DCA4D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1084BEE7-9B6D-D2B9-529D-F13EC98F2BE1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C49145BA-D7A2-8C04-B9BD-9DBF34CBF02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BDAC6A24-898F-F25D-1CC6-B82163AAE3BF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A29E3AC2-5BD0-9752-4D9A-830000DF00AD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30DE0A5-ACC2-A432-D559-CD64BE1400B9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18C78E2-F217-C0AA-6D37-54F3BD9C2766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F31F783E-5539-5D21-F314-7145ABD412AE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460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41FC-D148-8B5A-05B3-3B918E66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48B9B528-1F41-ED6E-B855-9A95AB7C404F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E8270293-3C23-3DB3-04FD-B161084F873E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21F6422E-CCD0-FE6E-C887-149E2E13AAC2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18B5D7CE-ADDF-0614-1B2C-47B75473418C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D79A3FD7-86CE-02BA-3CA5-4E4A4AEEC378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6F3A1581-C0A1-B1F2-D5FF-2C96B81BBBFE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D4EC2B8-EBFD-2991-72A3-CD0DF5CD90BF}"/>
              </a:ext>
            </a:extLst>
          </p:cNvPr>
          <p:cNvSpPr/>
          <p:nvPr/>
        </p:nvSpPr>
        <p:spPr>
          <a:xfrm>
            <a:off x="-15008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7DA8F74A-892C-1117-0486-B2EBF83C071E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E6B52C3-DB87-3967-B762-0491AC520052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du Système</a:t>
            </a: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055260F-8398-CECF-3C4A-3AE993563D68}"/>
              </a:ext>
            </a:extLst>
          </p:cNvPr>
          <p:cNvSpPr/>
          <p:nvPr/>
        </p:nvSpPr>
        <p:spPr>
          <a:xfrm>
            <a:off x="330487" y="-12496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DF147E37-26A7-A958-3F39-4D4FA4C90A28}"/>
              </a:ext>
            </a:extLst>
          </p:cNvPr>
          <p:cNvSpPr/>
          <p:nvPr/>
        </p:nvSpPr>
        <p:spPr>
          <a:xfrm>
            <a:off x="1407469" y="-25147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73AE4B40-3E15-C78B-29DA-23B42F05A56D}"/>
              </a:ext>
            </a:extLst>
          </p:cNvPr>
          <p:cNvSpPr/>
          <p:nvPr/>
        </p:nvSpPr>
        <p:spPr>
          <a:xfrm>
            <a:off x="1407469" y="22631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4E2B7D95-9EFA-4E47-A76E-9A7E25F958B3}"/>
              </a:ext>
            </a:extLst>
          </p:cNvPr>
          <p:cNvSpPr/>
          <p:nvPr/>
        </p:nvSpPr>
        <p:spPr>
          <a:xfrm>
            <a:off x="3940357" y="1856232"/>
            <a:ext cx="1554480" cy="1554480"/>
          </a:xfrm>
          <a:prstGeom prst="ellipse">
            <a:avLst/>
          </a:prstGeom>
          <a:solidFill>
            <a:srgbClr val="0D1B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C20FAEB7-5EAD-A430-8A87-A8B441F03FFB}"/>
              </a:ext>
            </a:extLst>
          </p:cNvPr>
          <p:cNvSpPr/>
          <p:nvPr/>
        </p:nvSpPr>
        <p:spPr>
          <a:xfrm>
            <a:off x="3582217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20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1A1F461B-9303-E4D8-C73C-4FC1D36EB8DF}"/>
              </a:ext>
            </a:extLst>
          </p:cNvPr>
          <p:cNvSpPr/>
          <p:nvPr/>
        </p:nvSpPr>
        <p:spPr>
          <a:xfrm>
            <a:off x="3574597" y="2660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Microcontrôleur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000" dirty="0"/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8E40355B-8103-86CE-0F9A-22933F9A7366}"/>
              </a:ext>
            </a:extLst>
          </p:cNvPr>
          <p:cNvGrpSpPr/>
          <p:nvPr/>
        </p:nvGrpSpPr>
        <p:grpSpPr>
          <a:xfrm>
            <a:off x="1473637" y="3293246"/>
            <a:ext cx="1943932" cy="1225595"/>
            <a:chOff x="1508760" y="2834640"/>
            <a:chExt cx="1943932" cy="1225595"/>
          </a:xfrm>
        </p:grpSpPr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C9A57811-F2FC-480D-F8BE-2A422520240C}"/>
                </a:ext>
              </a:extLst>
            </p:cNvPr>
            <p:cNvSpPr/>
            <p:nvPr/>
          </p:nvSpPr>
          <p:spPr>
            <a:xfrm>
              <a:off x="1884795" y="2834640"/>
              <a:ext cx="1225595" cy="1225595"/>
            </a:xfrm>
            <a:prstGeom prst="ellipse">
              <a:avLst/>
            </a:prstGeom>
            <a:solidFill>
              <a:srgbClr val="1976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Text 15">
              <a:extLst>
                <a:ext uri="{FF2B5EF4-FFF2-40B4-BE49-F238E27FC236}">
                  <a16:creationId xmlns:a16="http://schemas.microsoft.com/office/drawing/2014/main" id="{AA7553E9-0211-4936-6BDE-EC1E9A52F5DE}"/>
                </a:ext>
              </a:extLst>
            </p:cNvPr>
            <p:cNvSpPr/>
            <p:nvPr/>
          </p:nvSpPr>
          <p:spPr>
            <a:xfrm>
              <a:off x="1508760" y="3502152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PWM 0–255</a:t>
              </a:r>
              <a:endParaRPr lang="en-US" sz="850" dirty="0"/>
            </a:p>
          </p:txBody>
        </p:sp>
        <p:sp>
          <p:nvSpPr>
            <p:cNvPr id="55" name="Text 14">
              <a:extLst>
                <a:ext uri="{FF2B5EF4-FFF2-40B4-BE49-F238E27FC236}">
                  <a16:creationId xmlns:a16="http://schemas.microsoft.com/office/drawing/2014/main" id="{1324A97B-0E64-D642-70F5-82A6D96084F0}"/>
                </a:ext>
              </a:extLst>
            </p:cNvPr>
            <p:cNvSpPr/>
            <p:nvPr/>
          </p:nvSpPr>
          <p:spPr>
            <a:xfrm>
              <a:off x="1532452" y="3054395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Moteurs DC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 2</a:t>
              </a:r>
              <a:endParaRPr lang="en-US" sz="1050" dirty="0"/>
            </a:p>
          </p:txBody>
        </p:sp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814C44C8-344F-6280-CC1F-077E4ACB2034}"/>
              </a:ext>
            </a:extLst>
          </p:cNvPr>
          <p:cNvGrpSpPr/>
          <p:nvPr/>
        </p:nvGrpSpPr>
        <p:grpSpPr>
          <a:xfrm>
            <a:off x="4503308" y="3672076"/>
            <a:ext cx="1920240" cy="1225595"/>
            <a:chOff x="5760720" y="3335123"/>
            <a:chExt cx="1920240" cy="1225595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2130892B-2D3E-912F-7AF1-CB318EB7C9A4}"/>
                </a:ext>
              </a:extLst>
            </p:cNvPr>
            <p:cNvSpPr/>
            <p:nvPr/>
          </p:nvSpPr>
          <p:spPr>
            <a:xfrm>
              <a:off x="6111421" y="3335123"/>
              <a:ext cx="1225595" cy="1225595"/>
            </a:xfrm>
            <a:prstGeom prst="ellipse">
              <a:avLst/>
            </a:prstGeom>
            <a:solidFill>
              <a:srgbClr val="E539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7282AA48-F449-1858-041E-FC2E2B613ECA}"/>
                </a:ext>
              </a:extLst>
            </p:cNvPr>
            <p:cNvGrpSpPr/>
            <p:nvPr/>
          </p:nvGrpSpPr>
          <p:grpSpPr>
            <a:xfrm>
              <a:off x="5760720" y="3582160"/>
              <a:ext cx="1920240" cy="731520"/>
              <a:chOff x="6675120" y="3502152"/>
              <a:chExt cx="1920240" cy="731520"/>
            </a:xfrm>
          </p:grpSpPr>
          <p:sp>
            <p:nvSpPr>
              <p:cNvPr id="72" name="Text 29">
                <a:extLst>
                  <a:ext uri="{FF2B5EF4-FFF2-40B4-BE49-F238E27FC236}">
                    <a16:creationId xmlns:a16="http://schemas.microsoft.com/office/drawing/2014/main" id="{07605446-CE62-75ED-B3A8-78A24A274DBE}"/>
                  </a:ext>
                </a:extLst>
              </p:cNvPr>
              <p:cNvSpPr/>
              <p:nvPr/>
            </p:nvSpPr>
            <p:spPr>
              <a:xfrm>
                <a:off x="6675120" y="3502152"/>
                <a:ext cx="19202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Relais + Pompe</a:t>
                </a:r>
                <a:endParaRPr lang="en-US" sz="1050" dirty="0"/>
              </a:p>
            </p:txBody>
          </p:sp>
          <p:sp>
            <p:nvSpPr>
              <p:cNvPr id="73" name="Text 30">
                <a:extLst>
                  <a:ext uri="{FF2B5EF4-FFF2-40B4-BE49-F238E27FC236}">
                    <a16:creationId xmlns:a16="http://schemas.microsoft.com/office/drawing/2014/main" id="{E31F5EF8-2C59-8D89-B104-B8375F3A8ACA}"/>
                  </a:ext>
                </a:extLst>
              </p:cNvPr>
              <p:cNvSpPr/>
              <p:nvPr/>
            </p:nvSpPr>
            <p:spPr>
              <a:xfrm>
                <a:off x="6675120" y="3977640"/>
                <a:ext cx="19202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B0BEC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GPIO 4</a:t>
                </a:r>
                <a:endParaRPr lang="en-US" sz="850" dirty="0"/>
              </a:p>
            </p:txBody>
          </p:sp>
        </p:grpSp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B5ABE647-F5D9-9BC4-0B5D-D3E83FD66C33}"/>
              </a:ext>
            </a:extLst>
          </p:cNvPr>
          <p:cNvGrpSpPr/>
          <p:nvPr/>
        </p:nvGrpSpPr>
        <p:grpSpPr>
          <a:xfrm>
            <a:off x="6184941" y="1902412"/>
            <a:ext cx="1920240" cy="1225595"/>
            <a:chOff x="5074920" y="1169668"/>
            <a:chExt cx="1920240" cy="1225595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4FC19A8A-BB8B-36C0-98F8-92879565A840}"/>
                </a:ext>
              </a:extLst>
            </p:cNvPr>
            <p:cNvSpPr/>
            <p:nvPr/>
          </p:nvSpPr>
          <p:spPr>
            <a:xfrm>
              <a:off x="5463132" y="1169668"/>
              <a:ext cx="1225595" cy="1225595"/>
            </a:xfrm>
            <a:prstGeom prst="ellipse">
              <a:avLst/>
            </a:prstGeom>
            <a:solidFill>
              <a:srgbClr val="00897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2" name="Text 20">
              <a:extLst>
                <a:ext uri="{FF2B5EF4-FFF2-40B4-BE49-F238E27FC236}">
                  <a16:creationId xmlns:a16="http://schemas.microsoft.com/office/drawing/2014/main" id="{7798C528-6651-ABB1-2E2C-7FEF1631BD22}"/>
                </a:ext>
              </a:extLst>
            </p:cNvPr>
            <p:cNvSpPr/>
            <p:nvPr/>
          </p:nvSpPr>
          <p:spPr>
            <a:xfrm>
              <a:off x="5074920" y="1366266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HC-SR04</a:t>
              </a:r>
              <a:endParaRPr lang="en-US" sz="1050" dirty="0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21363028-3A4A-184C-C4CE-F970D1600BDE}"/>
                </a:ext>
              </a:extLst>
            </p:cNvPr>
            <p:cNvSpPr/>
            <p:nvPr/>
          </p:nvSpPr>
          <p:spPr>
            <a:xfrm>
              <a:off x="5074920" y="1841754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TRIG 5 / ECHO 18</a:t>
              </a:r>
              <a:endParaRPr lang="en-US" sz="850" dirty="0"/>
            </a:p>
          </p:txBody>
        </p: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C7A8A03A-1A99-F907-89C0-44D4B799B265}"/>
              </a:ext>
            </a:extLst>
          </p:cNvPr>
          <p:cNvGrpSpPr/>
          <p:nvPr/>
        </p:nvGrpSpPr>
        <p:grpSpPr>
          <a:xfrm>
            <a:off x="2238442" y="1138518"/>
            <a:ext cx="1920240" cy="1225595"/>
            <a:chOff x="5074920" y="1051411"/>
            <a:chExt cx="1920240" cy="1225595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D082AD8F-C5EB-7F67-4A43-E48023936301}"/>
                </a:ext>
              </a:extLst>
            </p:cNvPr>
            <p:cNvSpPr/>
            <p:nvPr/>
          </p:nvSpPr>
          <p:spPr>
            <a:xfrm>
              <a:off x="5430233" y="1051411"/>
              <a:ext cx="1225595" cy="1225595"/>
            </a:xfrm>
            <a:prstGeom prst="ellipse">
              <a:avLst/>
            </a:prstGeom>
            <a:solidFill>
              <a:srgbClr val="FB8C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7" name="Text 20">
              <a:extLst>
                <a:ext uri="{FF2B5EF4-FFF2-40B4-BE49-F238E27FC236}">
                  <a16:creationId xmlns:a16="http://schemas.microsoft.com/office/drawing/2014/main" id="{47FFC647-69E0-75E0-835F-58CACCEA4307}"/>
                </a:ext>
              </a:extLst>
            </p:cNvPr>
            <p:cNvSpPr/>
            <p:nvPr/>
          </p:nvSpPr>
          <p:spPr>
            <a:xfrm>
              <a:off x="5074920" y="1366266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Servo SG90</a:t>
              </a:r>
              <a:endParaRPr lang="en-US" sz="1050" dirty="0"/>
            </a:p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88" name="Text 21">
              <a:extLst>
                <a:ext uri="{FF2B5EF4-FFF2-40B4-BE49-F238E27FC236}">
                  <a16:creationId xmlns:a16="http://schemas.microsoft.com/office/drawing/2014/main" id="{7670D2EF-08F9-F050-0217-D863E2A97508}"/>
                </a:ext>
              </a:extLst>
            </p:cNvPr>
            <p:cNvSpPr/>
            <p:nvPr/>
          </p:nvSpPr>
          <p:spPr>
            <a:xfrm>
              <a:off x="5074920" y="1841754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5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 19</a:t>
              </a:r>
              <a:endParaRPr lang="en-US" sz="850" dirty="0"/>
            </a:p>
          </p:txBody>
        </p: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B26B6D51-2D3D-80EC-C95C-04D0057ED3ED}"/>
              </a:ext>
            </a:extLst>
          </p:cNvPr>
          <p:cNvGrpSpPr/>
          <p:nvPr/>
        </p:nvGrpSpPr>
        <p:grpSpPr>
          <a:xfrm>
            <a:off x="1157720" y="1948225"/>
            <a:ext cx="1920240" cy="1225595"/>
            <a:chOff x="5074920" y="1051411"/>
            <a:chExt cx="1920240" cy="1225595"/>
          </a:xfrm>
        </p:grpSpPr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16F2288B-B296-29B0-4056-273391F77EFD}"/>
                </a:ext>
              </a:extLst>
            </p:cNvPr>
            <p:cNvSpPr/>
            <p:nvPr/>
          </p:nvSpPr>
          <p:spPr>
            <a:xfrm>
              <a:off x="5430233" y="1051411"/>
              <a:ext cx="1225595" cy="1225595"/>
            </a:xfrm>
            <a:prstGeom prst="ellipse">
              <a:avLst/>
            </a:prstGeom>
            <a:solidFill>
              <a:srgbClr val="00897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2" name="Text 20">
              <a:extLst>
                <a:ext uri="{FF2B5EF4-FFF2-40B4-BE49-F238E27FC236}">
                  <a16:creationId xmlns:a16="http://schemas.microsoft.com/office/drawing/2014/main" id="{73650D50-CAA0-2745-17A5-1A3DBE242F34}"/>
                </a:ext>
              </a:extLst>
            </p:cNvPr>
            <p:cNvSpPr/>
            <p:nvPr/>
          </p:nvSpPr>
          <p:spPr>
            <a:xfrm>
              <a:off x="5074920" y="1366266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LCD I2C</a:t>
              </a:r>
              <a:endParaRPr lang="en-US" sz="1050" dirty="0"/>
            </a:p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16×2</a:t>
              </a:r>
              <a:endParaRPr lang="en-US" sz="1050" dirty="0"/>
            </a:p>
          </p:txBody>
        </p:sp>
        <p:sp>
          <p:nvSpPr>
            <p:cNvPr id="93" name="Text 21">
              <a:extLst>
                <a:ext uri="{FF2B5EF4-FFF2-40B4-BE49-F238E27FC236}">
                  <a16:creationId xmlns:a16="http://schemas.microsoft.com/office/drawing/2014/main" id="{FBCEB903-8A52-AAC1-D775-C83D829F8711}"/>
                </a:ext>
              </a:extLst>
            </p:cNvPr>
            <p:cNvSpPr/>
            <p:nvPr/>
          </p:nvSpPr>
          <p:spPr>
            <a:xfrm>
              <a:off x="5074920" y="1841754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50" dirty="0" err="1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Adresse</a:t>
              </a:r>
              <a:r>
                <a:rPr lang="en-US" sz="85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0x27</a:t>
              </a:r>
              <a:endParaRPr lang="en-US" sz="850" dirty="0"/>
            </a:p>
          </p:txBody>
        </p:sp>
      </p:grp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6A914EFC-3A0C-8521-A61A-6F4DBA76F87E}"/>
              </a:ext>
            </a:extLst>
          </p:cNvPr>
          <p:cNvGrpSpPr/>
          <p:nvPr/>
        </p:nvGrpSpPr>
        <p:grpSpPr>
          <a:xfrm>
            <a:off x="5085689" y="1247547"/>
            <a:ext cx="1920240" cy="1225595"/>
            <a:chOff x="5074920" y="1051411"/>
            <a:chExt cx="1920240" cy="1225595"/>
          </a:xfrm>
        </p:grpSpPr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22EEAD3F-1D73-1627-C5DE-24B6F9D9C07A}"/>
                </a:ext>
              </a:extLst>
            </p:cNvPr>
            <p:cNvSpPr/>
            <p:nvPr/>
          </p:nvSpPr>
          <p:spPr>
            <a:xfrm>
              <a:off x="5430233" y="1051411"/>
              <a:ext cx="1225595" cy="1225595"/>
            </a:xfrm>
            <a:prstGeom prst="ellipse">
              <a:avLst/>
            </a:prstGeom>
            <a:solidFill>
              <a:srgbClr val="FB8C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6" name="Text 20">
              <a:extLst>
                <a:ext uri="{FF2B5EF4-FFF2-40B4-BE49-F238E27FC236}">
                  <a16:creationId xmlns:a16="http://schemas.microsoft.com/office/drawing/2014/main" id="{B1386FC1-77E9-E5DB-108A-64E9D5D2A139}"/>
                </a:ext>
              </a:extLst>
            </p:cNvPr>
            <p:cNvSpPr/>
            <p:nvPr/>
          </p:nvSpPr>
          <p:spPr>
            <a:xfrm>
              <a:off x="5074920" y="1366266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DHT22</a:t>
              </a:r>
              <a:endParaRPr lang="en-US" sz="1050" dirty="0"/>
            </a:p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97" name="Text 21">
              <a:extLst>
                <a:ext uri="{FF2B5EF4-FFF2-40B4-BE49-F238E27FC236}">
                  <a16:creationId xmlns:a16="http://schemas.microsoft.com/office/drawing/2014/main" id="{B2654126-23E8-B89D-8276-F5CE7AECF63C}"/>
                </a:ext>
              </a:extLst>
            </p:cNvPr>
            <p:cNvSpPr/>
            <p:nvPr/>
          </p:nvSpPr>
          <p:spPr>
            <a:xfrm>
              <a:off x="5074920" y="1841754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5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GPIO 15</a:t>
              </a:r>
              <a:endParaRPr lang="en-US" sz="850" dirty="0"/>
            </a:p>
          </p:txBody>
        </p:sp>
      </p:grp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78F8BCB6-8F6A-91F1-BADD-F0AABD907F6C}"/>
              </a:ext>
            </a:extLst>
          </p:cNvPr>
          <p:cNvGrpSpPr/>
          <p:nvPr/>
        </p:nvGrpSpPr>
        <p:grpSpPr>
          <a:xfrm>
            <a:off x="2977882" y="3635387"/>
            <a:ext cx="1920240" cy="1225595"/>
            <a:chOff x="5760720" y="3335123"/>
            <a:chExt cx="1920240" cy="1225595"/>
          </a:xfrm>
        </p:grpSpPr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6953D2BB-F946-5EE5-E271-01252F760347}"/>
                </a:ext>
              </a:extLst>
            </p:cNvPr>
            <p:cNvSpPr/>
            <p:nvPr/>
          </p:nvSpPr>
          <p:spPr>
            <a:xfrm>
              <a:off x="6111421" y="3335123"/>
              <a:ext cx="1225595" cy="1225595"/>
            </a:xfrm>
            <a:prstGeom prst="ellipse">
              <a:avLst/>
            </a:prstGeom>
            <a:solidFill>
              <a:srgbClr val="E539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CF3B8DDB-58EC-7335-EAC3-6D85CF7374BF}"/>
                </a:ext>
              </a:extLst>
            </p:cNvPr>
            <p:cNvGrpSpPr/>
            <p:nvPr/>
          </p:nvGrpSpPr>
          <p:grpSpPr>
            <a:xfrm>
              <a:off x="5760720" y="3582160"/>
              <a:ext cx="1920240" cy="731520"/>
              <a:chOff x="6675120" y="3502152"/>
              <a:chExt cx="1920240" cy="731520"/>
            </a:xfrm>
          </p:grpSpPr>
          <p:sp>
            <p:nvSpPr>
              <p:cNvPr id="102" name="Text 29">
                <a:extLst>
                  <a:ext uri="{FF2B5EF4-FFF2-40B4-BE49-F238E27FC236}">
                    <a16:creationId xmlns:a16="http://schemas.microsoft.com/office/drawing/2014/main" id="{88A029C0-D6CF-6AC6-68F1-97A5DAFE716C}"/>
                  </a:ext>
                </a:extLst>
              </p:cNvPr>
              <p:cNvSpPr/>
              <p:nvPr/>
            </p:nvSpPr>
            <p:spPr>
              <a:xfrm>
                <a:off x="6675120" y="3502152"/>
                <a:ext cx="19202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5×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Capteurs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IR</a:t>
                </a:r>
                <a:endParaRPr lang="en-US" sz="1050" dirty="0"/>
              </a:p>
            </p:txBody>
          </p:sp>
          <p:sp>
            <p:nvSpPr>
              <p:cNvPr id="103" name="Text 30">
                <a:extLst>
                  <a:ext uri="{FF2B5EF4-FFF2-40B4-BE49-F238E27FC236}">
                    <a16:creationId xmlns:a16="http://schemas.microsoft.com/office/drawing/2014/main" id="{CF908AB9-AF9E-3DC0-537F-D8C9219ACA1F}"/>
                  </a:ext>
                </a:extLst>
              </p:cNvPr>
              <p:cNvSpPr/>
              <p:nvPr/>
            </p:nvSpPr>
            <p:spPr>
              <a:xfrm>
                <a:off x="6675120" y="3977640"/>
                <a:ext cx="19202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850" dirty="0">
                    <a:solidFill>
                      <a:srgbClr val="B0BEC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FC FL FR BL BR</a:t>
                </a:r>
                <a:endParaRPr lang="en-US" sz="850" dirty="0"/>
              </a:p>
            </p:txBody>
          </p:sp>
        </p:grpSp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65EC427C-C595-123A-B49E-F933CD5E64AA}"/>
              </a:ext>
            </a:extLst>
          </p:cNvPr>
          <p:cNvGrpSpPr/>
          <p:nvPr/>
        </p:nvGrpSpPr>
        <p:grpSpPr>
          <a:xfrm>
            <a:off x="5860597" y="3205732"/>
            <a:ext cx="1943932" cy="1225595"/>
            <a:chOff x="1508760" y="2834640"/>
            <a:chExt cx="1943932" cy="1225595"/>
          </a:xfrm>
        </p:grpSpPr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AF9B9110-3C69-EA65-7B88-3F2505E72D03}"/>
                </a:ext>
              </a:extLst>
            </p:cNvPr>
            <p:cNvSpPr/>
            <p:nvPr/>
          </p:nvSpPr>
          <p:spPr>
            <a:xfrm>
              <a:off x="1884795" y="2834640"/>
              <a:ext cx="1225595" cy="1225595"/>
            </a:xfrm>
            <a:prstGeom prst="ellipse">
              <a:avLst/>
            </a:prstGeom>
            <a:solidFill>
              <a:srgbClr val="1976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6" name="Text 15">
              <a:extLst>
                <a:ext uri="{FF2B5EF4-FFF2-40B4-BE49-F238E27FC236}">
                  <a16:creationId xmlns:a16="http://schemas.microsoft.com/office/drawing/2014/main" id="{F628486B-602E-6B0F-733E-C0CFA80C1533}"/>
                </a:ext>
              </a:extLst>
            </p:cNvPr>
            <p:cNvSpPr/>
            <p:nvPr/>
          </p:nvSpPr>
          <p:spPr>
            <a:xfrm>
              <a:off x="1508760" y="3502152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5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IN1/2/3/4 + ENA/ENB</a:t>
              </a:r>
              <a:endParaRPr lang="en-US" sz="850" dirty="0"/>
            </a:p>
          </p:txBody>
        </p:sp>
        <p:sp>
          <p:nvSpPr>
            <p:cNvPr id="107" name="Text 14">
              <a:extLst>
                <a:ext uri="{FF2B5EF4-FFF2-40B4-BE49-F238E27FC236}">
                  <a16:creationId xmlns:a16="http://schemas.microsoft.com/office/drawing/2014/main" id="{D3A85FCE-5407-28EC-B157-E670F228790E}"/>
                </a:ext>
              </a:extLst>
            </p:cNvPr>
            <p:cNvSpPr/>
            <p:nvPr/>
          </p:nvSpPr>
          <p:spPr>
            <a:xfrm>
              <a:off x="1532452" y="3054395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L298N</a:t>
              </a:r>
              <a:endParaRPr lang="en-US" sz="1050" dirty="0"/>
            </a:p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Pont </a:t>
              </a:r>
              <a:r>
                <a:rPr lang="en-US" sz="105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H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8340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06DFA-C260-6B9B-E994-8CDFC836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0DA3D467-46D4-8B88-3B14-2523A6FD8CD0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CA603F73-C5C5-73AD-7A5B-59CEBDB7B843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21E0ED38-F82B-1AF4-F80F-3EAC4B481064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858838A0-6B9A-94D9-973C-1392B5061063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99FE44CC-6476-46D1-B1AC-75D92088BFD7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C9322E82-BE27-FBE6-2309-E73B94FBF86A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0E1D1BC-D23C-0A78-6831-286EFA84FE96}"/>
              </a:ext>
            </a:extLst>
          </p:cNvPr>
          <p:cNvSpPr/>
          <p:nvPr/>
        </p:nvSpPr>
        <p:spPr>
          <a:xfrm>
            <a:off x="-28724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32EC851-A9B9-8E98-4A3E-43A4C06440A7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EE0900E-022C-DF16-9586-901019870CC1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Brochage</a:t>
            </a: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ESP32 (GPIO)</a:t>
            </a: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E02D4B1-4710-ED3D-6CE1-730899AFFF31}"/>
              </a:ext>
            </a:extLst>
          </p:cNvPr>
          <p:cNvSpPr/>
          <p:nvPr/>
        </p:nvSpPr>
        <p:spPr>
          <a:xfrm>
            <a:off x="330487" y="-12496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780A52D4-5B71-D4FF-EDB1-751C8E9E488F}"/>
              </a:ext>
            </a:extLst>
          </p:cNvPr>
          <p:cNvSpPr/>
          <p:nvPr/>
        </p:nvSpPr>
        <p:spPr>
          <a:xfrm>
            <a:off x="1407469" y="-25147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0B34454C-25BA-5318-1804-FEE28CC690DF}"/>
              </a:ext>
            </a:extLst>
          </p:cNvPr>
          <p:cNvSpPr/>
          <p:nvPr/>
        </p:nvSpPr>
        <p:spPr>
          <a:xfrm>
            <a:off x="1407469" y="22631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FC34F67-44E7-77E6-6634-62D251889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65097"/>
            <a:ext cx="8183879" cy="104774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196B331F-35F3-4C17-1757-E70FB43E3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2292"/>
            <a:ext cx="8183880" cy="175869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35D8AA4-D977-2F5C-8FCB-3DDA71A41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4021562"/>
            <a:ext cx="8183878" cy="81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36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4FC1-5EF8-8A86-09B7-144C81346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925108-AC75-A016-7A3F-02F5A37FAC62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D8BADE9-EAEB-6FA2-6DA0-FFD3E69BCD84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A6FE0D1-D3CB-354E-03B9-349E125F4FD1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37DC953-8D29-7B27-D98F-BD7520DF3168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9E63730-F50C-5ACE-E96E-D2755E0B1359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BE0224F-8E5A-E141-20E9-C1B4FB9A5407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D98AF4D-80F0-79F2-ECBB-1CBD064EB84D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50B2DCD-301B-3A68-26EB-928C7BCD046E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388D31D-AFA0-940C-7611-F559E6BEBC3A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8C5AC5C-2707-3381-4DA6-A38DF9869D63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3D2CC9E-AA71-2150-33A6-B9E30D487865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E93A2D9E-5AFB-4DB6-7CED-7DE4E98F8890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5F267A3C-7507-A770-8C9E-51BA0BF4EBE6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7CAD8B04-C6FB-8648-4B0E-822C7628CD9D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4EB7ECF-7DD4-3729-E17B-D771DE6D5C4B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02BEACF9-F296-5A85-033A-B4CBEBAAED11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3A5047CC-722D-6335-846E-3421A55A4F39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46CF1B4A-22A3-BA36-BB52-117574BE007E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277EEEC1-6CA3-7016-ED69-835805D72564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21C1290-F73E-6ED8-2EAD-6ACF5B98A433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E548FA79-E351-5AD1-CBDF-CF5ED7B6183C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3B27434B-A2A4-CF14-08BB-1B5EE1A52954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EADFB1DF-2F45-8E2E-9279-E70F3CC96D98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6B242F3-3C15-F8A9-4E6F-30A967689D90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7BC8ECC9-6C82-06F7-F735-005806CF83F0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987BA4C8-8D92-D3A0-5387-93EEDD365CE3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F9682079-F891-5469-D5E3-4B751F5535CC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88DBAC06-A5F2-FF39-943D-FC717699633D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8C586614-67FA-6694-2ECA-84BEBBD5FC57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64F3F59-2644-CA2E-EC57-C4554EE881CE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62A2E1C2-3DAD-F410-61E8-5F2E4D52F60C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E1FFB477-1E48-6E96-27C6-43E1B6109C92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2E1EFAD8-9868-01CC-E169-75AACC784B80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9A646E5A-6421-E241-69B9-58AB8E0285A3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6DF355F3-427B-9A89-A1B8-47A1B03C1287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4444F8F8-195A-E56A-F9E4-E692AD59122D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3F5751B7-44EB-A6AC-4BEA-2939B215A7B5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22DD577-054E-FD08-0065-8FD39ACD0BAD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B8421F59-5FDC-A6E5-8A8E-3D92EE6A6338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C728E644-35A8-88C7-5F24-5DC35E629D6D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39E9BBAD-F5E9-B876-4DD7-057CFA1F2195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981D8DFE-0B9B-C4CF-5FA9-C15415E7CFB5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5D46330A-949B-9721-61D7-42887CF7775A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059F93A-73D1-D219-70F7-34C5A930F0C8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84423774-A064-9EA0-AE23-CF1DBF3DAD98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C54521F1-3C54-BB99-CA96-72EFCEA223BB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4F769FC4-7604-A8D2-3D8B-59FCC50A51D8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6B46F772-08D4-99F7-C26A-BA0169B027F2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EF01BD7C-2236-A9F7-397E-3404F19E11CD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472F2013-DF97-F2AB-243F-D3C621029F61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E901A62A-E3B0-D6DE-7C25-158E415ED3D9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982E7D5F-F65F-D47D-65AA-97F6F41609BA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9D9B312B-94BD-539B-B3F3-916F69A851FE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17567B5E-97C3-E4C8-43FA-A99D3F7004B6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64F3EFD7-81CE-4E7E-FE12-E83077D0C85E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715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31A9-9861-92D0-A3E7-D605EAB8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89590303-375B-438A-6620-79BFD9DB9829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3871B56C-4C59-5761-69C9-6E4CAB19E90B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B634C6FC-72E2-19C6-083B-D993240E892D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433AAA70-8E7E-E0EA-9BA7-B3A62BB16907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8D335DDE-4580-30E9-6374-6431598A8B38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AFF9A46F-9567-8385-D05A-FD10918E26A8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A2AF755-52CE-4F7A-C0BB-202D6F011C61}"/>
              </a:ext>
            </a:extLst>
          </p:cNvPr>
          <p:cNvSpPr/>
          <p:nvPr/>
        </p:nvSpPr>
        <p:spPr>
          <a:xfrm>
            <a:off x="-28724" y="502919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F5CC939-4D79-74B9-B8A1-BD1A214BEBDA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59605BD2-D242-B6AA-1D77-5A38ACDF6714}"/>
              </a:ext>
            </a:extLst>
          </p:cNvPr>
          <p:cNvSpPr/>
          <p:nvPr/>
        </p:nvSpPr>
        <p:spPr>
          <a:xfrm>
            <a:off x="330487" y="-13030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2A87D111-1210-7EF9-279C-C1C1D70721BE}"/>
              </a:ext>
            </a:extLst>
          </p:cNvPr>
          <p:cNvSpPr/>
          <p:nvPr/>
        </p:nvSpPr>
        <p:spPr>
          <a:xfrm>
            <a:off x="1407469" y="-3733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A25B00FF-3E77-3E7E-151D-69648A981525}"/>
              </a:ext>
            </a:extLst>
          </p:cNvPr>
          <p:cNvSpPr/>
          <p:nvPr/>
        </p:nvSpPr>
        <p:spPr>
          <a:xfrm>
            <a:off x="1407469" y="22898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EE0900E-022C-DF16-9586-901019870CC1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</a:t>
            </a: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Flux — </a:t>
            </a:r>
            <a:r>
              <a:rPr lang="en-US" sz="26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</a:t>
            </a: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349F460-65B6-CCFF-0589-31D2E430591D}"/>
              </a:ext>
            </a:extLst>
          </p:cNvPr>
          <p:cNvSpPr/>
          <p:nvPr/>
        </p:nvSpPr>
        <p:spPr>
          <a:xfrm>
            <a:off x="457200" y="1207008"/>
            <a:ext cx="3200400" cy="4572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A44AA9C-FF79-C031-D36D-EF1839B67199}"/>
              </a:ext>
            </a:extLst>
          </p:cNvPr>
          <p:cNvSpPr/>
          <p:nvPr/>
        </p:nvSpPr>
        <p:spPr>
          <a:xfrm>
            <a:off x="457200" y="1207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moteurs, servo, LCD, capteurs</a:t>
            </a:r>
            <a:endParaRPr lang="en-US" sz="95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A9E61873-472B-F698-84F9-8FC253D3548A}"/>
              </a:ext>
            </a:extLst>
          </p:cNvPr>
          <p:cNvSpPr/>
          <p:nvPr/>
        </p:nvSpPr>
        <p:spPr>
          <a:xfrm>
            <a:off x="2039112" y="1664208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3272B9C-4A1A-7C60-B6AF-0D590B409166}"/>
              </a:ext>
            </a:extLst>
          </p:cNvPr>
          <p:cNvSpPr/>
          <p:nvPr/>
        </p:nvSpPr>
        <p:spPr>
          <a:xfrm>
            <a:off x="457200" y="1865376"/>
            <a:ext cx="3200400" cy="457200"/>
          </a:xfrm>
          <a:prstGeom prst="rect">
            <a:avLst/>
          </a:prstGeom>
          <a:solidFill>
            <a:srgbClr val="00897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DE05F71B-45E2-9A7A-076F-0BD39C3ADD60}"/>
              </a:ext>
            </a:extLst>
          </p:cNvPr>
          <p:cNvSpPr/>
          <p:nvPr/>
        </p:nvSpPr>
        <p:spPr>
          <a:xfrm>
            <a:off x="457200" y="1865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— Mise à jour LCD (DHT22)</a:t>
            </a:r>
            <a:endParaRPr lang="en-US" sz="95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260B16DD-3861-8CD3-1D60-3B003017EDD3}"/>
              </a:ext>
            </a:extLst>
          </p:cNvPr>
          <p:cNvSpPr/>
          <p:nvPr/>
        </p:nvSpPr>
        <p:spPr>
          <a:xfrm>
            <a:off x="2039112" y="2322576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DA13753C-CA75-33EA-92EB-94C059CE5A8E}"/>
              </a:ext>
            </a:extLst>
          </p:cNvPr>
          <p:cNvSpPr/>
          <p:nvPr/>
        </p:nvSpPr>
        <p:spPr>
          <a:xfrm>
            <a:off x="457200" y="2523744"/>
            <a:ext cx="3200400" cy="45720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C03EB45B-BB9E-864B-5825-267B308938CB}"/>
              </a:ext>
            </a:extLst>
          </p:cNvPr>
          <p:cNvSpPr/>
          <p:nvPr/>
        </p:nvSpPr>
        <p:spPr>
          <a:xfrm>
            <a:off x="457200" y="2523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5 capteurs IR</a:t>
            </a:r>
            <a:endParaRPr lang="en-US" sz="95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8C83D301-129C-C193-329A-3D522B515054}"/>
              </a:ext>
            </a:extLst>
          </p:cNvPr>
          <p:cNvSpPr/>
          <p:nvPr/>
        </p:nvSpPr>
        <p:spPr>
          <a:xfrm>
            <a:off x="2039112" y="2980944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50336080-64EB-FC3B-9F45-7E6C0D8F42D0}"/>
              </a:ext>
            </a:extLst>
          </p:cNvPr>
          <p:cNvSpPr/>
          <p:nvPr/>
        </p:nvSpPr>
        <p:spPr>
          <a:xfrm>
            <a:off x="457200" y="3182112"/>
            <a:ext cx="3200400" cy="457200"/>
          </a:xfrm>
          <a:prstGeom prst="rect">
            <a:avLst/>
          </a:prstGeom>
          <a:solidFill>
            <a:srgbClr val="E5393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0E8FAC25-80F3-65CB-7E91-28BE57DF58A2}"/>
              </a:ext>
            </a:extLst>
          </p:cNvPr>
          <p:cNvSpPr/>
          <p:nvPr/>
        </p:nvSpPr>
        <p:spPr>
          <a:xfrm>
            <a:off x="457200" y="3182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 détecté sur FC ?</a:t>
            </a:r>
            <a:endParaRPr lang="en-US" sz="95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0904D30E-896F-B15A-D1C2-1BB70AB419AE}"/>
              </a:ext>
            </a:extLst>
          </p:cNvPr>
          <p:cNvSpPr/>
          <p:nvPr/>
        </p:nvSpPr>
        <p:spPr>
          <a:xfrm>
            <a:off x="2039112" y="3639312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4EEB9D59-2433-2FAA-5E06-00A3ED2196E6}"/>
              </a:ext>
            </a:extLst>
          </p:cNvPr>
          <p:cNvSpPr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solidFill>
            <a:srgbClr val="E5393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4C9731CB-B746-C2C8-391C-6890B7A4CDAA}"/>
              </a:ext>
            </a:extLst>
          </p:cNvPr>
          <p:cNvSpPr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moteurs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pompe + balayage servo</a:t>
            </a:r>
            <a:endParaRPr lang="en-US" sz="95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2FFED1A-3456-363B-EB60-1B1018122285}"/>
              </a:ext>
            </a:extLst>
          </p:cNvPr>
          <p:cNvSpPr/>
          <p:nvPr/>
        </p:nvSpPr>
        <p:spPr>
          <a:xfrm>
            <a:off x="1783080" y="36576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</a:rPr>
              <a:t>OUI</a:t>
            </a:r>
            <a:endParaRPr lang="en-US" sz="8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19933516-FD2A-2287-2E87-A6959D044F2D}"/>
              </a:ext>
            </a:extLst>
          </p:cNvPr>
          <p:cNvSpPr/>
          <p:nvPr/>
        </p:nvSpPr>
        <p:spPr>
          <a:xfrm>
            <a:off x="3810000" y="3310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8C00"/>
                </a:solidFill>
              </a:rPr>
              <a:t>NON →</a:t>
            </a:r>
            <a:endParaRPr lang="en-US" sz="800" dirty="0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4C45CC97-9252-0CC8-3794-61572E12390B}"/>
              </a:ext>
            </a:extLst>
          </p:cNvPr>
          <p:cNvSpPr/>
          <p:nvPr/>
        </p:nvSpPr>
        <p:spPr>
          <a:xfrm>
            <a:off x="4642811" y="1225297"/>
            <a:ext cx="3200400" cy="457200"/>
          </a:xfrm>
          <a:prstGeom prst="rect">
            <a:avLst/>
          </a:prstGeom>
          <a:solidFill>
            <a:srgbClr val="FB8C0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7DD15F00-FA67-BE28-C46D-5D1C3FBED90E}"/>
              </a:ext>
            </a:extLst>
          </p:cNvPr>
          <p:cNvSpPr/>
          <p:nvPr/>
        </p:nvSpPr>
        <p:spPr>
          <a:xfrm>
            <a:off x="4661099" y="1245871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 sur FL/FR/BL/BR ?</a:t>
            </a:r>
            <a:endParaRPr lang="en-US" sz="950" dirty="0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42A40399-3684-BD89-9DA7-24F815A78789}"/>
              </a:ext>
            </a:extLst>
          </p:cNvPr>
          <p:cNvSpPr/>
          <p:nvPr/>
        </p:nvSpPr>
        <p:spPr>
          <a:xfrm>
            <a:off x="6243011" y="1703071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62E5EC6F-65A7-B13C-CDDE-66C0463A23E7}"/>
              </a:ext>
            </a:extLst>
          </p:cNvPr>
          <p:cNvSpPr/>
          <p:nvPr/>
        </p:nvSpPr>
        <p:spPr>
          <a:xfrm>
            <a:off x="4661099" y="1904239"/>
            <a:ext cx="3200400" cy="457200"/>
          </a:xfrm>
          <a:prstGeom prst="rect">
            <a:avLst/>
          </a:prstGeom>
          <a:solidFill>
            <a:srgbClr val="FB8C0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76101EB5-F69F-8B4B-5480-764AEB92B441}"/>
              </a:ext>
            </a:extLst>
          </p:cNvPr>
          <p:cNvSpPr/>
          <p:nvPr/>
        </p:nvSpPr>
        <p:spPr>
          <a:xfrm>
            <a:off x="4661099" y="1904239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vers la 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(gauche ou droite)</a:t>
            </a:r>
            <a:endParaRPr lang="en-US" sz="950" dirty="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B6ADE5D3-A3C3-1E90-4E28-71BF1801CDB5}"/>
              </a:ext>
            </a:extLst>
          </p:cNvPr>
          <p:cNvSpPr/>
          <p:nvPr/>
        </p:nvSpPr>
        <p:spPr>
          <a:xfrm rot="10800000">
            <a:off x="4007357" y="4007359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76D2"/>
                </a:solidFill>
              </a:rPr>
              <a:t>NON →</a:t>
            </a:r>
            <a:endParaRPr lang="en-US" sz="800" dirty="0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D75C990F-8434-B35F-8FAE-4B7113AC8012}"/>
              </a:ext>
            </a:extLst>
          </p:cNvPr>
          <p:cNvSpPr/>
          <p:nvPr/>
        </p:nvSpPr>
        <p:spPr>
          <a:xfrm>
            <a:off x="4661099" y="2562607"/>
            <a:ext cx="3200400" cy="457200"/>
          </a:xfrm>
          <a:prstGeom prst="rect">
            <a:avLst/>
          </a:prstGeom>
          <a:solidFill>
            <a:srgbClr val="1976D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8A0243C2-5794-DCDA-C743-4DAF020D4519}"/>
              </a:ext>
            </a:extLst>
          </p:cNvPr>
          <p:cNvSpPr/>
          <p:nvPr/>
        </p:nvSpPr>
        <p:spPr>
          <a:xfrm>
            <a:off x="4661099" y="2562607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obstacle &lt; 20 cm ?</a:t>
            </a:r>
            <a:endParaRPr lang="en-US" sz="950" dirty="0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FBF64AD0-CA34-91DA-2600-43869FE79CFE}"/>
              </a:ext>
            </a:extLst>
          </p:cNvPr>
          <p:cNvSpPr/>
          <p:nvPr/>
        </p:nvSpPr>
        <p:spPr>
          <a:xfrm>
            <a:off x="6243011" y="3019807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0A9A09B8-CD33-B9E3-45DD-8F6B6E4253B0}"/>
              </a:ext>
            </a:extLst>
          </p:cNvPr>
          <p:cNvSpPr/>
          <p:nvPr/>
        </p:nvSpPr>
        <p:spPr>
          <a:xfrm>
            <a:off x="4661099" y="3220975"/>
            <a:ext cx="3200400" cy="457200"/>
          </a:xfrm>
          <a:prstGeom prst="rect">
            <a:avLst/>
          </a:prstGeom>
          <a:solidFill>
            <a:srgbClr val="1976D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33">
            <a:extLst>
              <a:ext uri="{FF2B5EF4-FFF2-40B4-BE49-F238E27FC236}">
                <a16:creationId xmlns:a16="http://schemas.microsoft.com/office/drawing/2014/main" id="{9DAD2069-50FE-460C-DD3F-BA9436896373}"/>
              </a:ext>
            </a:extLst>
          </p:cNvPr>
          <p:cNvSpPr/>
          <p:nvPr/>
        </p:nvSpPr>
        <p:spPr>
          <a:xfrm>
            <a:off x="4661099" y="3220975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Évitement obstacle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tourner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droite, 600 ms)</a:t>
            </a:r>
            <a:endParaRPr lang="en-US" sz="950" dirty="0"/>
          </a:p>
        </p:txBody>
      </p:sp>
      <p:sp>
        <p:nvSpPr>
          <p:cNvPr id="51" name="Shape 34">
            <a:extLst>
              <a:ext uri="{FF2B5EF4-FFF2-40B4-BE49-F238E27FC236}">
                <a16:creationId xmlns:a16="http://schemas.microsoft.com/office/drawing/2014/main" id="{4B1F69C1-B6BE-259C-39C4-7D824A582E92}"/>
              </a:ext>
            </a:extLst>
          </p:cNvPr>
          <p:cNvSpPr/>
          <p:nvPr/>
        </p:nvSpPr>
        <p:spPr>
          <a:xfrm>
            <a:off x="6243011" y="3678175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35">
            <a:extLst>
              <a:ext uri="{FF2B5EF4-FFF2-40B4-BE49-F238E27FC236}">
                <a16:creationId xmlns:a16="http://schemas.microsoft.com/office/drawing/2014/main" id="{E35D0699-2441-131C-D8A7-56458AA75798}"/>
              </a:ext>
            </a:extLst>
          </p:cNvPr>
          <p:cNvSpPr/>
          <p:nvPr/>
        </p:nvSpPr>
        <p:spPr>
          <a:xfrm>
            <a:off x="4661099" y="3879343"/>
            <a:ext cx="3200400" cy="457200"/>
          </a:xfrm>
          <a:prstGeom prst="rect">
            <a:avLst/>
          </a:prstGeom>
          <a:solidFill>
            <a:srgbClr val="00897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Text 36">
            <a:extLst>
              <a:ext uri="{FF2B5EF4-FFF2-40B4-BE49-F238E27FC236}">
                <a16:creationId xmlns:a16="http://schemas.microsoft.com/office/drawing/2014/main" id="{6A95A600-8BC8-CD71-55F4-BADCE01E17F0}"/>
              </a:ext>
            </a:extLst>
          </p:cNvPr>
          <p:cNvSpPr/>
          <p:nvPr/>
        </p:nvSpPr>
        <p:spPr>
          <a:xfrm>
            <a:off x="4661099" y="3879343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 en mode recherche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(searchSpeed = 160)</a:t>
            </a:r>
            <a:endParaRPr lang="en-US" sz="950" dirty="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EF8B797E-1403-4E4A-1455-81D8433C94C8}"/>
              </a:ext>
            </a:extLst>
          </p:cNvPr>
          <p:cNvSpPr/>
          <p:nvPr/>
        </p:nvSpPr>
        <p:spPr>
          <a:xfrm>
            <a:off x="6243011" y="2352487"/>
            <a:ext cx="36576" cy="2011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751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1240-CCB8-ACDF-19C6-ACDEEE08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56970B-9349-EA17-D6C5-D49D8C1925D5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F4F4659-6A69-9DBB-06DA-C172307C68E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33F3F93-3417-FD6D-3E3D-2685378C270E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6D0857-E5F4-3323-77F9-A08FE528B716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DC38ADF-4FD4-C63F-70EA-0E4B3C6B14FB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E896656-90D8-D3A6-06BF-607157A7D69F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93F0638-9009-E810-D484-6A4252326855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4E7F7C0-A2E7-55D3-5EBB-074D8EF00E8C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39837FD6-DC7B-7530-F472-CC0DB4996766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6623DB5-E7F9-8E81-2E3D-D0D9017E7B4E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88C95D1-A7BD-859E-6326-40626BDCFF03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2C3E152A-0157-0126-789F-88F463133AD6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666623B8-911E-A6A4-62E5-7BC892E3C33D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01A8D028-3FFD-E097-C3F1-7D6A4082D593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3B519A9-A899-3FC6-2962-20F8674EE8D9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1973D1A-88CF-DC42-4A96-1790EA5F6510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01D53F6B-3AC2-F693-2485-DBC49D2EB655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A622209C-2920-E5F6-F024-D8959B3EC529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3CF3A4B3-A99B-87DE-B712-7CBAA8254374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B8C9593-5BA9-F27F-2D81-CF240F3B149C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5BA7276-DB63-B32C-34F7-D33B162771BF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1366498E-1859-EA82-50D8-AE4ED78873F0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07B4D0F5-B076-DD13-ADEB-7EE0E94024FC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0F5C033-7DBF-CB8E-D853-02D509C8D902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0989C06E-F29E-EF10-A7D1-3E3FA94A991A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5DD7D682-150B-EE24-336C-6DD1498E34FB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D690196E-ACA5-EE4A-DCDD-D3BB781D8465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9081243E-3299-17CF-FBAA-970CF0167F08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173AE531-5A19-6A61-5638-DA3C0A0C2920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2C0C2108-2A18-5C32-5871-D0F43E0D8B9D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15C92C55-58D8-7BD0-50A1-68A7354F42F6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99B63C2A-5011-D975-3688-EA05CF850507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2773A273-6B0F-9928-234D-774C5890566D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B9AB9555-F1B8-AD7C-B967-496E3A00213A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001D3E1C-8855-AF9F-A2B4-EEB17C2DD8C1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3AFB422E-E3FD-EC29-4A9F-FC195C4B4D09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7FD40E58-BB64-E2DB-FFAF-3347615ECA03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F4A9BFA0-8323-F977-C0E7-2D742C16F970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51ED778A-5372-B333-AAB6-A40D6B02CCC6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1669AE05-B236-BCDC-148D-D685950A3693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6D16581B-3A9C-5041-B655-FE7C6F1BC4F2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7FFB7A56-7DAA-0FF3-D21A-9876DE1EEB38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B53E1A2D-E668-A13A-CABA-C2B86C8B6507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2EB8B281-6911-8A15-7899-D99168DA3699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19B0E82C-F240-BADC-00A4-29B4DFB2A0E7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141AE217-3DB1-547D-98F2-D9EE36C4C412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0BB8CAEA-A3A8-DC77-8658-5346F5F7B452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D7C5398-5A1F-4FDD-A3BE-1FAC6BE8A2B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6C7A793-D9AA-5E73-20DC-9A332B84C1A9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70033BBC-2A5B-979C-2352-990E163E96A7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7D7A6C5-76D9-7266-14B3-0B0296F4E0AC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FB97502E-AFBA-8997-EC1C-4694796F5416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A9109BAD-4DA2-8D44-7DD5-CDE1DC6F61A3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E2B71570-35B2-7E5C-F2FB-14D63B685C6C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A3A42102-3757-5FD8-8FB0-6D3B73B28180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72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7FEB-3F83-D882-9508-B60331C0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93EE6A56-9B7A-FD85-5163-7851BDBCF45C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D5ADD478-8300-5DDE-A1E2-AC00AB641809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D801D125-E9E3-C79F-6760-FFE5EE6BC87A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00DE37FA-DBDE-DCF4-2052-09B84003EB82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B6FF8320-6171-A1BF-1B76-61BF765C0A94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6DC99DFF-FC22-9A3E-4C88-A1140718DFA2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45AEA1A-2D24-436C-11FA-46A127F765F7}"/>
              </a:ext>
            </a:extLst>
          </p:cNvPr>
          <p:cNvSpPr/>
          <p:nvPr/>
        </p:nvSpPr>
        <p:spPr>
          <a:xfrm>
            <a:off x="-7504" y="502918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47001674-4209-A90E-7F46-AC15828297C2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29">
            <a:extLst>
              <a:ext uri="{FF2B5EF4-FFF2-40B4-BE49-F238E27FC236}">
                <a16:creationId xmlns:a16="http://schemas.microsoft.com/office/drawing/2014/main" id="{ADB3DBE8-28B1-5C3D-188D-9F968855FEB6}"/>
              </a:ext>
            </a:extLst>
          </p:cNvPr>
          <p:cNvSpPr/>
          <p:nvPr/>
        </p:nvSpPr>
        <p:spPr>
          <a:xfrm>
            <a:off x="330487" y="-14592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CECB27B0-A514-0B13-B124-3D5E0C141DFD}"/>
              </a:ext>
            </a:extLst>
          </p:cNvPr>
          <p:cNvSpPr/>
          <p:nvPr/>
        </p:nvSpPr>
        <p:spPr>
          <a:xfrm>
            <a:off x="1407469" y="-45721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A8373BF8-46FA-258D-F0FC-2E1B50B89138}"/>
              </a:ext>
            </a:extLst>
          </p:cNvPr>
          <p:cNvSpPr/>
          <p:nvPr/>
        </p:nvSpPr>
        <p:spPr>
          <a:xfrm>
            <a:off x="1407469" y="215645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A29EDC5-B7A1-46FD-80C6-2107FCADEB5D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Code Source</a:t>
            </a: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DBA4437-A7DD-CCEF-4754-30E0A0856863}"/>
              </a:ext>
            </a:extLst>
          </p:cNvPr>
          <p:cNvSpPr/>
          <p:nvPr/>
        </p:nvSpPr>
        <p:spPr>
          <a:xfrm>
            <a:off x="411480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E53935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BA3C174-DA36-E28D-F048-9A68295E78A5}"/>
              </a:ext>
            </a:extLst>
          </p:cNvPr>
          <p:cNvSpPr/>
          <p:nvPr/>
        </p:nvSpPr>
        <p:spPr>
          <a:xfrm>
            <a:off x="590550" y="10012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 utilisées</a:t>
            </a:r>
            <a:endParaRPr lang="en-US" dirty="0">
              <a:solidFill>
                <a:srgbClr val="FB8C00"/>
              </a:solidFill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ABBFD2EA-0337-CBC7-B25B-9E7F0EA5308B}"/>
              </a:ext>
            </a:extLst>
          </p:cNvPr>
          <p:cNvSpPr/>
          <p:nvPr/>
        </p:nvSpPr>
        <p:spPr>
          <a:xfrm>
            <a:off x="411480" y="134416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11A853D9-51E7-13F6-E459-359C4FEDDF94}"/>
              </a:ext>
            </a:extLst>
          </p:cNvPr>
          <p:cNvSpPr/>
          <p:nvPr/>
        </p:nvSpPr>
        <p:spPr>
          <a:xfrm>
            <a:off x="411480" y="1342644"/>
            <a:ext cx="457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2EB2F92-5246-6799-E239-8FCD390EF4F7}"/>
              </a:ext>
            </a:extLst>
          </p:cNvPr>
          <p:cNvSpPr/>
          <p:nvPr/>
        </p:nvSpPr>
        <p:spPr>
          <a:xfrm>
            <a:off x="548640" y="1380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ESP32Servo.h</a:t>
            </a:r>
            <a:endParaRPr lang="en-US" sz="11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0C7A46F8-D897-022E-314F-3081CCDFB26D}"/>
              </a:ext>
            </a:extLst>
          </p:cNvPr>
          <p:cNvSpPr/>
          <p:nvPr/>
        </p:nvSpPr>
        <p:spPr>
          <a:xfrm>
            <a:off x="548640" y="1581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servo-moteur SG90 (50 Hz)</a:t>
            </a:r>
            <a:endParaRPr lang="en-US" sz="95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2EAA9C54-6545-5DF2-301D-47B4CD284FA5}"/>
              </a:ext>
            </a:extLst>
          </p:cNvPr>
          <p:cNvSpPr/>
          <p:nvPr/>
        </p:nvSpPr>
        <p:spPr>
          <a:xfrm>
            <a:off x="411480" y="1856232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8AD25A1-8AB9-8426-E47E-829931844BED}"/>
              </a:ext>
            </a:extLst>
          </p:cNvPr>
          <p:cNvSpPr/>
          <p:nvPr/>
        </p:nvSpPr>
        <p:spPr>
          <a:xfrm>
            <a:off x="411480" y="1863089"/>
            <a:ext cx="457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FDAAFFE-F2DB-9902-D373-E00356F90407}"/>
              </a:ext>
            </a:extLst>
          </p:cNvPr>
          <p:cNvSpPr/>
          <p:nvPr/>
        </p:nvSpPr>
        <p:spPr>
          <a:xfrm>
            <a:off x="548640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Wire.h</a:t>
            </a:r>
            <a:endParaRPr lang="en-US" sz="11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44D90F84-906E-67F4-DBDC-578E9865535E}"/>
              </a:ext>
            </a:extLst>
          </p:cNvPr>
          <p:cNvSpPr/>
          <p:nvPr/>
        </p:nvSpPr>
        <p:spPr>
          <a:xfrm>
            <a:off x="548640" y="20939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I2C (LCD)</a:t>
            </a:r>
            <a:endParaRPr lang="en-US" sz="950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4EA7348F-5634-594E-6393-E67D41BB5E73}"/>
              </a:ext>
            </a:extLst>
          </p:cNvPr>
          <p:cNvSpPr/>
          <p:nvPr/>
        </p:nvSpPr>
        <p:spPr>
          <a:xfrm>
            <a:off x="411480" y="2368296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591AED9-A29B-74C7-4BAD-18C25CA75D42}"/>
              </a:ext>
            </a:extLst>
          </p:cNvPr>
          <p:cNvSpPr/>
          <p:nvPr/>
        </p:nvSpPr>
        <p:spPr>
          <a:xfrm>
            <a:off x="411480" y="2375153"/>
            <a:ext cx="457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0B8292BA-EF84-FF0B-7E4C-B5301613BDBC}"/>
              </a:ext>
            </a:extLst>
          </p:cNvPr>
          <p:cNvSpPr/>
          <p:nvPr/>
        </p:nvSpPr>
        <p:spPr>
          <a:xfrm>
            <a:off x="54864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LiquidCrystal_I2C.h</a:t>
            </a:r>
            <a:endParaRPr lang="en-US" sz="11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B42D06E6-638D-012C-74B8-5F96287BA19F}"/>
              </a:ext>
            </a:extLst>
          </p:cNvPr>
          <p:cNvSpPr/>
          <p:nvPr/>
        </p:nvSpPr>
        <p:spPr>
          <a:xfrm>
            <a:off x="548640" y="2606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LCD 16×2 (adresse 0x27)</a:t>
            </a:r>
            <a:endParaRPr lang="en-US" sz="95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40892ADC-F65F-50DD-A663-75A285DF8CB1}"/>
              </a:ext>
            </a:extLst>
          </p:cNvPr>
          <p:cNvSpPr/>
          <p:nvPr/>
        </p:nvSpPr>
        <p:spPr>
          <a:xfrm>
            <a:off x="411480" y="2880360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CF6D5AD2-A68B-606E-1740-0B9B8008BBA9}"/>
              </a:ext>
            </a:extLst>
          </p:cNvPr>
          <p:cNvSpPr/>
          <p:nvPr/>
        </p:nvSpPr>
        <p:spPr>
          <a:xfrm>
            <a:off x="411480" y="2887217"/>
            <a:ext cx="457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C2E9FB5D-2058-D11D-2FCC-5CC43E1BF1F6}"/>
              </a:ext>
            </a:extLst>
          </p:cNvPr>
          <p:cNvSpPr/>
          <p:nvPr/>
        </p:nvSpPr>
        <p:spPr>
          <a:xfrm>
            <a:off x="548640" y="2916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DHT.h</a:t>
            </a:r>
            <a:endParaRPr lang="en-US" sz="11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337A0F87-96B4-FCAF-2CD6-9A5204D37B80}"/>
              </a:ext>
            </a:extLst>
          </p:cNvPr>
          <p:cNvSpPr/>
          <p:nvPr/>
        </p:nvSpPr>
        <p:spPr>
          <a:xfrm>
            <a:off x="548640" y="31181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température/humidité DHT22</a:t>
            </a:r>
            <a:endParaRPr lang="en-US" sz="950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0A192B8-1E7B-7DF2-4A41-19C6DBBE4C9D}"/>
              </a:ext>
            </a:extLst>
          </p:cNvPr>
          <p:cNvSpPr txBox="1"/>
          <p:nvPr/>
        </p:nvSpPr>
        <p:spPr>
          <a:xfrm>
            <a:off x="5053585" y="983980"/>
            <a:ext cx="4659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r>
              <a:rPr lang="en-US" sz="18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Implémentées</a:t>
            </a:r>
            <a:endParaRPr lang="en-US" sz="1800" dirty="0">
              <a:solidFill>
                <a:srgbClr val="FB8C00"/>
              </a:solidFill>
            </a:endParaRPr>
          </a:p>
        </p:txBody>
      </p:sp>
      <p:sp>
        <p:nvSpPr>
          <p:cNvPr id="80" name="Shape 25">
            <a:extLst>
              <a:ext uri="{FF2B5EF4-FFF2-40B4-BE49-F238E27FC236}">
                <a16:creationId xmlns:a16="http://schemas.microsoft.com/office/drawing/2014/main" id="{C8089E6B-AB19-93E5-B995-2FC45FF1C04D}"/>
              </a:ext>
            </a:extLst>
          </p:cNvPr>
          <p:cNvSpPr/>
          <p:nvPr/>
        </p:nvSpPr>
        <p:spPr>
          <a:xfrm>
            <a:off x="4572000" y="1362456"/>
            <a:ext cx="4114800" cy="384048"/>
          </a:xfrm>
          <a:prstGeom prst="rect">
            <a:avLst/>
          </a:prstGeom>
          <a:solidFill>
            <a:srgbClr val="F5F8FD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BCDE62EE-D6C4-CF57-5C1C-B1690E162C68}"/>
              </a:ext>
            </a:extLst>
          </p:cNvPr>
          <p:cNvSpPr/>
          <p:nvPr/>
        </p:nvSpPr>
        <p:spPr>
          <a:xfrm>
            <a:off x="4645152" y="1389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000" dirty="0"/>
          </a:p>
        </p:txBody>
      </p:sp>
      <p:sp>
        <p:nvSpPr>
          <p:cNvPr id="82" name="Text 27">
            <a:extLst>
              <a:ext uri="{FF2B5EF4-FFF2-40B4-BE49-F238E27FC236}">
                <a16:creationId xmlns:a16="http://schemas.microsoft.com/office/drawing/2014/main" id="{91EBB34B-579B-DA3C-9B12-B7BD7BC744A3}"/>
              </a:ext>
            </a:extLst>
          </p:cNvPr>
          <p:cNvSpPr/>
          <p:nvPr/>
        </p:nvSpPr>
        <p:spPr>
          <a:xfrm>
            <a:off x="4645152" y="15636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de tous les composants</a:t>
            </a:r>
            <a:endParaRPr lang="en-US" sz="950" dirty="0"/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5D53C7B4-0785-E199-DA5E-895E50F96FD6}"/>
              </a:ext>
            </a:extLst>
          </p:cNvPr>
          <p:cNvSpPr/>
          <p:nvPr/>
        </p:nvSpPr>
        <p:spPr>
          <a:xfrm>
            <a:off x="4572000" y="1755648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29">
            <a:extLst>
              <a:ext uri="{FF2B5EF4-FFF2-40B4-BE49-F238E27FC236}">
                <a16:creationId xmlns:a16="http://schemas.microsoft.com/office/drawing/2014/main" id="{7D170E84-1A4D-760A-3BE8-050EE49D3606}"/>
              </a:ext>
            </a:extLst>
          </p:cNvPr>
          <p:cNvSpPr/>
          <p:nvPr/>
        </p:nvSpPr>
        <p:spPr>
          <a:xfrm>
            <a:off x="4645152" y="1783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000" dirty="0"/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AA025055-8F07-A134-D17D-535A72B67218}"/>
              </a:ext>
            </a:extLst>
          </p:cNvPr>
          <p:cNvSpPr/>
          <p:nvPr/>
        </p:nvSpPr>
        <p:spPr>
          <a:xfrm>
            <a:off x="4645152" y="1956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principale de contrôle (20 ms)</a:t>
            </a:r>
            <a:endParaRPr lang="en-US" sz="950" dirty="0"/>
          </a:p>
        </p:txBody>
      </p:sp>
      <p:sp>
        <p:nvSpPr>
          <p:cNvPr id="86" name="Shape 31">
            <a:extLst>
              <a:ext uri="{FF2B5EF4-FFF2-40B4-BE49-F238E27FC236}">
                <a16:creationId xmlns:a16="http://schemas.microsoft.com/office/drawing/2014/main" id="{EEA3A402-0B6E-621C-FFED-0F85015ECA46}"/>
              </a:ext>
            </a:extLst>
          </p:cNvPr>
          <p:cNvSpPr/>
          <p:nvPr/>
        </p:nvSpPr>
        <p:spPr>
          <a:xfrm>
            <a:off x="4572000" y="2148840"/>
            <a:ext cx="4114800" cy="384048"/>
          </a:xfrm>
          <a:prstGeom prst="rect">
            <a:avLst/>
          </a:prstGeom>
          <a:solidFill>
            <a:srgbClr val="F5F8FD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4CD6C045-A28D-D3A8-A3A3-12F0130301CA}"/>
              </a:ext>
            </a:extLst>
          </p:cNvPr>
          <p:cNvSpPr/>
          <p:nvPr/>
        </p:nvSpPr>
        <p:spPr>
          <a:xfrm>
            <a:off x="4645152" y="217627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moveForward()</a:t>
            </a:r>
            <a:endParaRPr lang="en-US" sz="1000" dirty="0"/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8BD23DA9-5FCD-EA5E-5E30-59022B73F2CF}"/>
              </a:ext>
            </a:extLst>
          </p:cNvPr>
          <p:cNvSpPr/>
          <p:nvPr/>
        </p:nvSpPr>
        <p:spPr>
          <a:xfrm>
            <a:off x="4645152" y="23500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 avec vitesse PWM configurable</a:t>
            </a:r>
            <a:endParaRPr lang="en-US" sz="950" dirty="0"/>
          </a:p>
        </p:txBody>
      </p:sp>
      <p:sp>
        <p:nvSpPr>
          <p:cNvPr id="89" name="Shape 34">
            <a:extLst>
              <a:ext uri="{FF2B5EF4-FFF2-40B4-BE49-F238E27FC236}">
                <a16:creationId xmlns:a16="http://schemas.microsoft.com/office/drawing/2014/main" id="{6F8B5E2A-B632-190C-8DC8-FF81368D43D3}"/>
              </a:ext>
            </a:extLst>
          </p:cNvPr>
          <p:cNvSpPr/>
          <p:nvPr/>
        </p:nvSpPr>
        <p:spPr>
          <a:xfrm>
            <a:off x="4572000" y="2542032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A36A09D7-34D1-2539-74FB-236CD57A4D1A}"/>
              </a:ext>
            </a:extLst>
          </p:cNvPr>
          <p:cNvSpPr/>
          <p:nvPr/>
        </p:nvSpPr>
        <p:spPr>
          <a:xfrm>
            <a:off x="4645152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moveLeft/Right()</a:t>
            </a:r>
            <a:endParaRPr lang="en-US" sz="1000" dirty="0"/>
          </a:p>
        </p:txBody>
      </p:sp>
      <p:sp>
        <p:nvSpPr>
          <p:cNvPr id="91" name="Text 36">
            <a:extLst>
              <a:ext uri="{FF2B5EF4-FFF2-40B4-BE49-F238E27FC236}">
                <a16:creationId xmlns:a16="http://schemas.microsoft.com/office/drawing/2014/main" id="{7F42EF1F-688C-6D4F-3AE6-969788ADB6F2}"/>
              </a:ext>
            </a:extLst>
          </p:cNvPr>
          <p:cNvSpPr/>
          <p:nvPr/>
        </p:nvSpPr>
        <p:spPr>
          <a:xfrm>
            <a:off x="4645152" y="27432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gauche/droite avec turnSpeed</a:t>
            </a:r>
            <a:endParaRPr lang="en-US" sz="950" dirty="0"/>
          </a:p>
        </p:txBody>
      </p:sp>
      <p:sp>
        <p:nvSpPr>
          <p:cNvPr id="92" name="Shape 37">
            <a:extLst>
              <a:ext uri="{FF2B5EF4-FFF2-40B4-BE49-F238E27FC236}">
                <a16:creationId xmlns:a16="http://schemas.microsoft.com/office/drawing/2014/main" id="{8AD99248-D30D-0BBF-B2F9-7A9A8C960AFB}"/>
              </a:ext>
            </a:extLst>
          </p:cNvPr>
          <p:cNvSpPr/>
          <p:nvPr/>
        </p:nvSpPr>
        <p:spPr>
          <a:xfrm>
            <a:off x="4572000" y="2935224"/>
            <a:ext cx="4114800" cy="384048"/>
          </a:xfrm>
          <a:prstGeom prst="rect">
            <a:avLst/>
          </a:prstGeom>
          <a:solidFill>
            <a:srgbClr val="F5F8FD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68B84F08-8DA7-343B-A801-F00252AF6453}"/>
              </a:ext>
            </a:extLst>
          </p:cNvPr>
          <p:cNvSpPr/>
          <p:nvPr/>
        </p:nvSpPr>
        <p:spPr>
          <a:xfrm>
            <a:off x="4645152" y="29626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stopMotors()</a:t>
            </a:r>
            <a:endParaRPr lang="en-US" sz="1000" dirty="0"/>
          </a:p>
        </p:txBody>
      </p:sp>
      <p:sp>
        <p:nvSpPr>
          <p:cNvPr id="94" name="Text 39">
            <a:extLst>
              <a:ext uri="{FF2B5EF4-FFF2-40B4-BE49-F238E27FC236}">
                <a16:creationId xmlns:a16="http://schemas.microsoft.com/office/drawing/2014/main" id="{0245969A-E8CB-DB6F-F584-7A5463CBB345}"/>
              </a:ext>
            </a:extLst>
          </p:cNvPr>
          <p:cNvSpPr/>
          <p:nvPr/>
        </p:nvSpPr>
        <p:spPr>
          <a:xfrm>
            <a:off x="4645152" y="3136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immédiat des 2 moteurs DC</a:t>
            </a:r>
            <a:endParaRPr lang="en-US" sz="950" dirty="0"/>
          </a:p>
        </p:txBody>
      </p:sp>
      <p:sp>
        <p:nvSpPr>
          <p:cNvPr id="95" name="Shape 40">
            <a:extLst>
              <a:ext uri="{FF2B5EF4-FFF2-40B4-BE49-F238E27FC236}">
                <a16:creationId xmlns:a16="http://schemas.microsoft.com/office/drawing/2014/main" id="{B48CB7AB-045A-5BC3-7DE0-5887F87D8629}"/>
              </a:ext>
            </a:extLst>
          </p:cNvPr>
          <p:cNvSpPr/>
          <p:nvPr/>
        </p:nvSpPr>
        <p:spPr>
          <a:xfrm>
            <a:off x="4572000" y="3328416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41">
            <a:extLst>
              <a:ext uri="{FF2B5EF4-FFF2-40B4-BE49-F238E27FC236}">
                <a16:creationId xmlns:a16="http://schemas.microsoft.com/office/drawing/2014/main" id="{2DDFFC7F-1804-A15A-F102-830C5EE848BF}"/>
              </a:ext>
            </a:extLst>
          </p:cNvPr>
          <p:cNvSpPr/>
          <p:nvPr/>
        </p:nvSpPr>
        <p:spPr>
          <a:xfrm>
            <a:off x="4645152" y="3355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sweepServo()</a:t>
            </a:r>
            <a:endParaRPr lang="en-US" sz="1000" dirty="0"/>
          </a:p>
        </p:txBody>
      </p:sp>
      <p:sp>
        <p:nvSpPr>
          <p:cNvPr id="97" name="Text 42">
            <a:extLst>
              <a:ext uri="{FF2B5EF4-FFF2-40B4-BE49-F238E27FC236}">
                <a16:creationId xmlns:a16="http://schemas.microsoft.com/office/drawing/2014/main" id="{9F4FA245-F0EC-D95C-CF06-7CD39F8DECB7}"/>
              </a:ext>
            </a:extLst>
          </p:cNvPr>
          <p:cNvSpPr/>
          <p:nvPr/>
        </p:nvSpPr>
        <p:spPr>
          <a:xfrm>
            <a:off x="4645152" y="3529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Balayage 10°–170° en mode extinction</a:t>
            </a:r>
            <a:endParaRPr lang="en-US" sz="950" dirty="0"/>
          </a:p>
        </p:txBody>
      </p:sp>
      <p:sp>
        <p:nvSpPr>
          <p:cNvPr id="98" name="Shape 43">
            <a:extLst>
              <a:ext uri="{FF2B5EF4-FFF2-40B4-BE49-F238E27FC236}">
                <a16:creationId xmlns:a16="http://schemas.microsoft.com/office/drawing/2014/main" id="{5ACE763E-7A58-FB0C-25CB-01FE240C98F2}"/>
              </a:ext>
            </a:extLst>
          </p:cNvPr>
          <p:cNvSpPr/>
          <p:nvPr/>
        </p:nvSpPr>
        <p:spPr>
          <a:xfrm>
            <a:off x="4572000" y="3721608"/>
            <a:ext cx="4114800" cy="384048"/>
          </a:xfrm>
          <a:prstGeom prst="rect">
            <a:avLst/>
          </a:prstGeom>
          <a:solidFill>
            <a:srgbClr val="F5F8FD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44">
            <a:extLst>
              <a:ext uri="{FF2B5EF4-FFF2-40B4-BE49-F238E27FC236}">
                <a16:creationId xmlns:a16="http://schemas.microsoft.com/office/drawing/2014/main" id="{458B6987-2736-35AC-EB17-B34E0D4A650F}"/>
              </a:ext>
            </a:extLst>
          </p:cNvPr>
          <p:cNvSpPr/>
          <p:nvPr/>
        </p:nvSpPr>
        <p:spPr>
          <a:xfrm>
            <a:off x="4645152" y="37490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getDistance()</a:t>
            </a:r>
            <a:endParaRPr lang="en-US" sz="1000" dirty="0"/>
          </a:p>
        </p:txBody>
      </p:sp>
      <p:sp>
        <p:nvSpPr>
          <p:cNvPr id="100" name="Text 45">
            <a:extLst>
              <a:ext uri="{FF2B5EF4-FFF2-40B4-BE49-F238E27FC236}">
                <a16:creationId xmlns:a16="http://schemas.microsoft.com/office/drawing/2014/main" id="{4FE5FD98-7078-1BAA-A7DE-96D9CAEDD004}"/>
              </a:ext>
            </a:extLst>
          </p:cNvPr>
          <p:cNvSpPr/>
          <p:nvPr/>
        </p:nvSpPr>
        <p:spPr>
          <a:xfrm>
            <a:off x="4645152" y="39227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ultrasonique HC-SR04 (pulseIn)</a:t>
            </a:r>
            <a:endParaRPr lang="en-US" sz="950" dirty="0"/>
          </a:p>
        </p:txBody>
      </p:sp>
      <p:sp>
        <p:nvSpPr>
          <p:cNvPr id="101" name="Shape 46">
            <a:extLst>
              <a:ext uri="{FF2B5EF4-FFF2-40B4-BE49-F238E27FC236}">
                <a16:creationId xmlns:a16="http://schemas.microsoft.com/office/drawing/2014/main" id="{A39F9F09-3C8B-C7F3-3143-057EC9BD8DDC}"/>
              </a:ext>
            </a:extLst>
          </p:cNvPr>
          <p:cNvSpPr/>
          <p:nvPr/>
        </p:nvSpPr>
        <p:spPr>
          <a:xfrm>
            <a:off x="4572000" y="411480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47">
            <a:extLst>
              <a:ext uri="{FF2B5EF4-FFF2-40B4-BE49-F238E27FC236}">
                <a16:creationId xmlns:a16="http://schemas.microsoft.com/office/drawing/2014/main" id="{8CE39762-EC03-5E2C-00DC-1EE139DC841B}"/>
              </a:ext>
            </a:extLst>
          </p:cNvPr>
          <p:cNvSpPr/>
          <p:nvPr/>
        </p:nvSpPr>
        <p:spPr>
          <a:xfrm>
            <a:off x="4645152" y="41422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avoidObstacle()</a:t>
            </a:r>
            <a:endParaRPr lang="en-US" sz="1000" dirty="0"/>
          </a:p>
        </p:txBody>
      </p:sp>
      <p:sp>
        <p:nvSpPr>
          <p:cNvPr id="103" name="Text 48">
            <a:extLst>
              <a:ext uri="{FF2B5EF4-FFF2-40B4-BE49-F238E27FC236}">
                <a16:creationId xmlns:a16="http://schemas.microsoft.com/office/drawing/2014/main" id="{AFFC4CDB-6E7D-2C2A-1E8E-37F2891289E4}"/>
              </a:ext>
            </a:extLst>
          </p:cNvPr>
          <p:cNvSpPr/>
          <p:nvPr/>
        </p:nvSpPr>
        <p:spPr>
          <a:xfrm>
            <a:off x="4645152" y="43159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Manœuvre d'évitement obstacle détecté</a:t>
            </a:r>
            <a:endParaRPr lang="en-US" sz="950" dirty="0"/>
          </a:p>
        </p:txBody>
      </p:sp>
      <p:sp>
        <p:nvSpPr>
          <p:cNvPr id="104" name="Shape 49">
            <a:extLst>
              <a:ext uri="{FF2B5EF4-FFF2-40B4-BE49-F238E27FC236}">
                <a16:creationId xmlns:a16="http://schemas.microsoft.com/office/drawing/2014/main" id="{022EAAC2-F668-C6A7-0D04-EF080C3AC3CC}"/>
              </a:ext>
            </a:extLst>
          </p:cNvPr>
          <p:cNvSpPr/>
          <p:nvPr/>
        </p:nvSpPr>
        <p:spPr>
          <a:xfrm>
            <a:off x="4572000" y="4507992"/>
            <a:ext cx="4114800" cy="384048"/>
          </a:xfrm>
          <a:prstGeom prst="rect">
            <a:avLst/>
          </a:prstGeom>
          <a:solidFill>
            <a:srgbClr val="F5F8FD"/>
          </a:solidFill>
          <a:ln w="635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B7D1BDCA-7835-5860-83A1-0CEFF15265C8}"/>
              </a:ext>
            </a:extLst>
          </p:cNvPr>
          <p:cNvSpPr/>
          <p:nvPr/>
        </p:nvSpPr>
        <p:spPr>
          <a:xfrm>
            <a:off x="4645152" y="45354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updateLCD()</a:t>
            </a:r>
            <a:endParaRPr lang="en-US" sz="1000" dirty="0"/>
          </a:p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687C292B-2D22-74DC-900F-CA39291A2DD4}"/>
              </a:ext>
            </a:extLst>
          </p:cNvPr>
          <p:cNvSpPr/>
          <p:nvPr/>
        </p:nvSpPr>
        <p:spPr>
          <a:xfrm>
            <a:off x="4645152" y="47091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affichage Temp + Humidité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196388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4447-142C-5052-07AC-5762E215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DA233CE7-8A82-0989-924B-EF49DEB0F75C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741059D8-D973-706F-AED3-D7CB539C790D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DA3E680E-0279-16C8-2D09-0B6D033380BB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FB9368F3-F48C-26FA-ED3D-36AF8CEE9770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CC434F6A-19BA-770D-BC7B-DED3403627DA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453B25CC-BE12-D2DF-EDFD-C20A12098692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65A8458-3A22-DFE1-F17B-3912FA9A19D7}"/>
              </a:ext>
            </a:extLst>
          </p:cNvPr>
          <p:cNvSpPr/>
          <p:nvPr/>
        </p:nvSpPr>
        <p:spPr>
          <a:xfrm>
            <a:off x="0" y="502919"/>
            <a:ext cx="9159008" cy="4439413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87D576DD-FD43-4779-DC4A-8F86E5E2D6EC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29">
            <a:extLst>
              <a:ext uri="{FF2B5EF4-FFF2-40B4-BE49-F238E27FC236}">
                <a16:creationId xmlns:a16="http://schemas.microsoft.com/office/drawing/2014/main" id="{9EF912D4-5DB8-DF40-2D25-73E1EE9A1200}"/>
              </a:ext>
            </a:extLst>
          </p:cNvPr>
          <p:cNvSpPr/>
          <p:nvPr/>
        </p:nvSpPr>
        <p:spPr>
          <a:xfrm>
            <a:off x="330487" y="-14592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660C3CCE-B105-AC08-D8BC-1984829FB177}"/>
              </a:ext>
            </a:extLst>
          </p:cNvPr>
          <p:cNvSpPr/>
          <p:nvPr/>
        </p:nvSpPr>
        <p:spPr>
          <a:xfrm>
            <a:off x="1407469" y="-45721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30086303-20A5-F1AE-94CC-BA059CA12F1E}"/>
              </a:ext>
            </a:extLst>
          </p:cNvPr>
          <p:cNvSpPr/>
          <p:nvPr/>
        </p:nvSpPr>
        <p:spPr>
          <a:xfrm>
            <a:off x="1407469" y="215645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3687816-EDE4-E1DE-66B5-3A62F04DA871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 de Code Annotés</a:t>
            </a:r>
            <a:endParaRPr lang="en-US" sz="2600" dirty="0">
              <a:solidFill>
                <a:srgbClr val="FB8C0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C9E481D-D5F5-86F8-AEF5-8619774116AF}"/>
              </a:ext>
            </a:extLst>
          </p:cNvPr>
          <p:cNvSpPr/>
          <p:nvPr/>
        </p:nvSpPr>
        <p:spPr>
          <a:xfrm>
            <a:off x="411480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E53935"/>
              </a:solidFill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7B7731D-A786-1F14-1198-307582481219}"/>
              </a:ext>
            </a:extLst>
          </p:cNvPr>
          <p:cNvGrpSpPr/>
          <p:nvPr/>
        </p:nvGrpSpPr>
        <p:grpSpPr>
          <a:xfrm>
            <a:off x="365760" y="1143000"/>
            <a:ext cx="4023360" cy="3159252"/>
            <a:chOff x="365760" y="1143000"/>
            <a:chExt cx="4023360" cy="3159252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52F222DB-28F2-1E7C-A460-67F7AC2CEAE7}"/>
                </a:ext>
              </a:extLst>
            </p:cNvPr>
            <p:cNvSpPr/>
            <p:nvPr/>
          </p:nvSpPr>
          <p:spPr>
            <a:xfrm>
              <a:off x="365760" y="1143000"/>
              <a:ext cx="4023360" cy="274320"/>
            </a:xfrm>
            <a:prstGeom prst="rect">
              <a:avLst/>
            </a:prstGeom>
            <a:solidFill>
              <a:srgbClr val="21262D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5CAC0ED-3FD6-F6F6-409E-88079AB9E590}"/>
                </a:ext>
              </a:extLst>
            </p:cNvPr>
            <p:cNvSpPr/>
            <p:nvPr/>
          </p:nvSpPr>
          <p:spPr>
            <a:xfrm>
              <a:off x="365760" y="11430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Boucle principale — Logique de décision</a:t>
              </a:r>
              <a:endParaRPr lang="en-US" sz="85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D9306367-3620-4102-50F3-0F69143EA8B9}"/>
                </a:ext>
              </a:extLst>
            </p:cNvPr>
            <p:cNvSpPr/>
            <p:nvPr/>
          </p:nvSpPr>
          <p:spPr>
            <a:xfrm>
              <a:off x="365760" y="1417320"/>
              <a:ext cx="4023360" cy="2884932"/>
            </a:xfrm>
            <a:prstGeom prst="rect">
              <a:avLst/>
            </a:prstGeom>
            <a:solidFill>
              <a:srgbClr val="161B22"/>
            </a:solidFill>
            <a:ln w="9525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F4C6C4D-CCBD-AA19-83C2-02F3ABDF071E}"/>
                </a:ext>
              </a:extLst>
            </p:cNvPr>
            <p:cNvSpPr/>
            <p:nvPr/>
          </p:nvSpPr>
          <p:spPr>
            <a:xfrm>
              <a:off x="457200" y="1463040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</a:t>
              </a:r>
              <a:endParaRPr lang="en-US" sz="85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A08D905-1EFC-A0DB-8DCA-678794A678D4}"/>
                </a:ext>
              </a:extLst>
            </p:cNvPr>
            <p:cNvSpPr/>
            <p:nvPr/>
          </p:nvSpPr>
          <p:spPr>
            <a:xfrm>
              <a:off x="457200" y="1595628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D2A8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loop</a:t>
              </a:r>
              <a:endParaRPr lang="en-US" sz="85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DDA3BCF1-9D26-1C04-AABC-705BEC9B326A}"/>
                </a:ext>
              </a:extLst>
            </p:cNvPr>
            <p:cNvSpPr/>
            <p:nvPr/>
          </p:nvSpPr>
          <p:spPr>
            <a:xfrm>
              <a:off x="457200" y="1728216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  <a:endParaRPr lang="en-US" sz="85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B5B05193-9B50-7261-50F6-A3FE23F33F67}"/>
                </a:ext>
              </a:extLst>
            </p:cNvPr>
            <p:cNvSpPr/>
            <p:nvPr/>
          </p:nvSpPr>
          <p:spPr>
            <a:xfrm>
              <a:off x="457200" y="1860804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updateLCD();</a:t>
              </a:r>
              <a:endParaRPr lang="en-US" sz="8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C3D3661E-3741-ED9F-7E86-AE1DB6B65A69}"/>
                </a:ext>
              </a:extLst>
            </p:cNvPr>
            <p:cNvSpPr/>
            <p:nvPr/>
          </p:nvSpPr>
          <p:spPr>
            <a:xfrm>
              <a:off x="457200" y="1993392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bool </a:t>
              </a:r>
              <a:endParaRPr lang="en-US" sz="85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349D1CB4-DB4A-4F4E-DB62-12295951EEB1}"/>
                </a:ext>
              </a:extLst>
            </p:cNvPr>
            <p:cNvSpPr/>
            <p:nvPr/>
          </p:nvSpPr>
          <p:spPr>
            <a:xfrm>
              <a:off x="457200" y="2125980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A65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fireFC </a:t>
              </a:r>
              <a:endParaRPr lang="en-US" sz="85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5A172199-24D7-4EF8-04A6-BBBBD57F0928}"/>
                </a:ext>
              </a:extLst>
            </p:cNvPr>
            <p:cNvSpPr/>
            <p:nvPr/>
          </p:nvSpPr>
          <p:spPr>
            <a:xfrm>
              <a:off x="457200" y="2258568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(digitalRead(SENSOR_FC) == LOW);</a:t>
              </a:r>
              <a:endParaRPr lang="en-US" sz="85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E3F8F682-9DF1-4D0B-0E64-3E678AF3098B}"/>
                </a:ext>
              </a:extLst>
            </p:cNvPr>
            <p:cNvSpPr/>
            <p:nvPr/>
          </p:nvSpPr>
          <p:spPr>
            <a:xfrm>
              <a:off x="457200" y="2391156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85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1F0008F7-E108-2B8D-C21C-5214F810E5FC}"/>
                </a:ext>
              </a:extLst>
            </p:cNvPr>
            <p:cNvSpPr/>
            <p:nvPr/>
          </p:nvSpPr>
          <p:spPr>
            <a:xfrm>
              <a:off x="457200" y="2523744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if </a:t>
              </a:r>
              <a:endParaRPr lang="en-US" sz="8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58D10377-CCF1-C484-6FC5-739B24D22B02}"/>
                </a:ext>
              </a:extLst>
            </p:cNvPr>
            <p:cNvSpPr/>
            <p:nvPr/>
          </p:nvSpPr>
          <p:spPr>
            <a:xfrm>
              <a:off x="457200" y="2656332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(fireFC) {</a:t>
              </a:r>
              <a:endParaRPr lang="en-US" sz="85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405CF73-3EAA-6EC8-AA98-02385479C6D3}"/>
                </a:ext>
              </a:extLst>
            </p:cNvPr>
            <p:cNvSpPr/>
            <p:nvPr/>
          </p:nvSpPr>
          <p:spPr>
            <a:xfrm>
              <a:off x="457200" y="2788920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stopMotors();</a:t>
              </a:r>
              <a:endParaRPr lang="en-US" sz="85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9790490-58F4-18EB-9E3B-97CFDCAC9433}"/>
                </a:ext>
              </a:extLst>
            </p:cNvPr>
            <p:cNvSpPr/>
            <p:nvPr/>
          </p:nvSpPr>
          <p:spPr>
            <a:xfrm>
              <a:off x="457200" y="2921508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digitalWrite(RELAY_PUMP, HIGH);</a:t>
              </a:r>
              <a:endParaRPr lang="en-US" sz="85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A0D568FD-4155-1717-5BFC-D40D9BA71919}"/>
                </a:ext>
              </a:extLst>
            </p:cNvPr>
            <p:cNvSpPr/>
            <p:nvPr/>
          </p:nvSpPr>
          <p:spPr>
            <a:xfrm>
              <a:off x="457200" y="3054096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sweepServo();</a:t>
              </a:r>
              <a:endParaRPr lang="en-US" sz="85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2B9497AC-423D-7385-A0BC-BFCD89316BA5}"/>
                </a:ext>
              </a:extLst>
            </p:cNvPr>
            <p:cNvSpPr/>
            <p:nvPr/>
          </p:nvSpPr>
          <p:spPr>
            <a:xfrm>
              <a:off x="457200" y="3186684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 else if </a:t>
              </a:r>
              <a:endParaRPr lang="en-US" sz="850" dirty="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ECBEBDF5-01F1-975A-1D12-EDD30ABAF830}"/>
                </a:ext>
              </a:extLst>
            </p:cNvPr>
            <p:cNvSpPr/>
            <p:nvPr/>
          </p:nvSpPr>
          <p:spPr>
            <a:xfrm>
              <a:off x="457200" y="3319272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(fireFL || fireFR ...) {</a:t>
              </a:r>
              <a:endParaRPr lang="en-US" sz="850" dirty="0"/>
            </a:p>
          </p:txBody>
        </p:sp>
        <p:sp>
          <p:nvSpPr>
            <p:cNvPr id="49" name="Text 28">
              <a:extLst>
                <a:ext uri="{FF2B5EF4-FFF2-40B4-BE49-F238E27FC236}">
                  <a16:creationId xmlns:a16="http://schemas.microsoft.com/office/drawing/2014/main" id="{3EEF1454-932F-FE36-E5F2-A890FCAB57C8}"/>
                </a:ext>
              </a:extLst>
            </p:cNvPr>
            <p:cNvSpPr/>
            <p:nvPr/>
          </p:nvSpPr>
          <p:spPr>
            <a:xfrm>
              <a:off x="457200" y="3451860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// Rotation vers la source</a:t>
              </a:r>
              <a:endParaRPr lang="en-US" sz="850" dirty="0"/>
            </a:p>
          </p:txBody>
        </p:sp>
        <p:sp>
          <p:nvSpPr>
            <p:cNvPr id="52" name="Text 29">
              <a:extLst>
                <a:ext uri="{FF2B5EF4-FFF2-40B4-BE49-F238E27FC236}">
                  <a16:creationId xmlns:a16="http://schemas.microsoft.com/office/drawing/2014/main" id="{0CED515B-9339-2A2E-76C3-8899ACEC8D2F}"/>
                </a:ext>
              </a:extLst>
            </p:cNvPr>
            <p:cNvSpPr/>
            <p:nvPr/>
          </p:nvSpPr>
          <p:spPr>
            <a:xfrm>
              <a:off x="457200" y="3584448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 else {</a:t>
              </a:r>
              <a:endParaRPr lang="en-US" sz="850" dirty="0"/>
            </a:p>
          </p:txBody>
        </p:sp>
        <p:sp>
          <p:nvSpPr>
            <p:cNvPr id="53" name="Text 30">
              <a:extLst>
                <a:ext uri="{FF2B5EF4-FFF2-40B4-BE49-F238E27FC236}">
                  <a16:creationId xmlns:a16="http://schemas.microsoft.com/office/drawing/2014/main" id="{78CC301F-EDF5-70C5-30ED-34318B71655A}"/>
                </a:ext>
              </a:extLst>
            </p:cNvPr>
            <p:cNvSpPr/>
            <p:nvPr/>
          </p:nvSpPr>
          <p:spPr>
            <a:xfrm>
              <a:off x="457200" y="3717036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// Recherche + évitement</a:t>
              </a:r>
              <a:endParaRPr lang="en-US" sz="850" dirty="0"/>
            </a:p>
          </p:txBody>
        </p:sp>
        <p:sp>
          <p:nvSpPr>
            <p:cNvPr id="54" name="Text 31">
              <a:extLst>
                <a:ext uri="{FF2B5EF4-FFF2-40B4-BE49-F238E27FC236}">
                  <a16:creationId xmlns:a16="http://schemas.microsoft.com/office/drawing/2014/main" id="{67FD7B4D-AFB8-D7AA-8866-3B19AC872040}"/>
                </a:ext>
              </a:extLst>
            </p:cNvPr>
            <p:cNvSpPr/>
            <p:nvPr/>
          </p:nvSpPr>
          <p:spPr>
            <a:xfrm>
              <a:off x="457200" y="3849624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</a:t>
              </a:r>
              <a:endParaRPr lang="en-US" sz="850" dirty="0"/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3D82C35F-F74E-7956-30AA-1A5A7A02418C}"/>
                </a:ext>
              </a:extLst>
            </p:cNvPr>
            <p:cNvSpPr/>
            <p:nvPr/>
          </p:nvSpPr>
          <p:spPr>
            <a:xfrm>
              <a:off x="457200" y="3982212"/>
              <a:ext cx="3840480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850" dirty="0"/>
            </a:p>
          </p:txBody>
        </p:sp>
        <p:sp>
          <p:nvSpPr>
            <p:cNvPr id="56" name="Text 61">
              <a:extLst>
                <a:ext uri="{FF2B5EF4-FFF2-40B4-BE49-F238E27FC236}">
                  <a16:creationId xmlns:a16="http://schemas.microsoft.com/office/drawing/2014/main" id="{F3912737-9580-0577-9A7B-A3E9B7670511}"/>
                </a:ext>
              </a:extLst>
            </p:cNvPr>
            <p:cNvSpPr/>
            <p:nvPr/>
          </p:nvSpPr>
          <p:spPr>
            <a:xfrm>
              <a:off x="365760" y="4139489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850" dirty="0"/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04C047DE-A35A-D6C6-8FDF-19608CAE4546}"/>
              </a:ext>
            </a:extLst>
          </p:cNvPr>
          <p:cNvGrpSpPr/>
          <p:nvPr/>
        </p:nvGrpSpPr>
        <p:grpSpPr>
          <a:xfrm>
            <a:off x="4754880" y="3071048"/>
            <a:ext cx="4023360" cy="1797687"/>
            <a:chOff x="4754880" y="2959022"/>
            <a:chExt cx="4023360" cy="1797687"/>
          </a:xfrm>
        </p:grpSpPr>
        <p:sp>
          <p:nvSpPr>
            <p:cNvPr id="58" name="Text 45">
              <a:extLst>
                <a:ext uri="{FF2B5EF4-FFF2-40B4-BE49-F238E27FC236}">
                  <a16:creationId xmlns:a16="http://schemas.microsoft.com/office/drawing/2014/main" id="{E4D8C68C-47EB-37D9-327B-7CB223D6783E}"/>
                </a:ext>
              </a:extLst>
            </p:cNvPr>
            <p:cNvSpPr/>
            <p:nvPr/>
          </p:nvSpPr>
          <p:spPr>
            <a:xfrm>
              <a:off x="4846320" y="3067812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(!fireFC) break;</a:t>
              </a:r>
              <a:endParaRPr lang="en-US" sz="850" dirty="0"/>
            </a:p>
          </p:txBody>
        </p:sp>
        <p:sp>
          <p:nvSpPr>
            <p:cNvPr id="60" name="Text 46">
              <a:extLst>
                <a:ext uri="{FF2B5EF4-FFF2-40B4-BE49-F238E27FC236}">
                  <a16:creationId xmlns:a16="http://schemas.microsoft.com/office/drawing/2014/main" id="{115127F8-2FAA-7DB5-E561-B600EB4C742A}"/>
                </a:ext>
              </a:extLst>
            </p:cNvPr>
            <p:cNvSpPr/>
            <p:nvPr/>
          </p:nvSpPr>
          <p:spPr>
            <a:xfrm>
              <a:off x="4846320" y="3246120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</a:t>
              </a:r>
              <a:endParaRPr lang="en-US" sz="850" dirty="0"/>
            </a:p>
          </p:txBody>
        </p:sp>
        <p:sp>
          <p:nvSpPr>
            <p:cNvPr id="61" name="Text 47">
              <a:extLst>
                <a:ext uri="{FF2B5EF4-FFF2-40B4-BE49-F238E27FC236}">
                  <a16:creationId xmlns:a16="http://schemas.microsoft.com/office/drawing/2014/main" id="{818869E7-115C-BB19-9641-0F8AF18996A5}"/>
                </a:ext>
              </a:extLst>
            </p:cNvPr>
            <p:cNvSpPr/>
            <p:nvPr/>
          </p:nvSpPr>
          <p:spPr>
            <a:xfrm>
              <a:off x="4846320" y="3424428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Retour 170° → 10°</a:t>
              </a:r>
              <a:endParaRPr lang="en-US" sz="850" dirty="0"/>
            </a:p>
          </p:txBody>
        </p:sp>
        <p:sp>
          <p:nvSpPr>
            <p:cNvPr id="62" name="Text 48">
              <a:extLst>
                <a:ext uri="{FF2B5EF4-FFF2-40B4-BE49-F238E27FC236}">
                  <a16:creationId xmlns:a16="http://schemas.microsoft.com/office/drawing/2014/main" id="{677EA373-6158-2174-14BA-7E4B86FD5CFC}"/>
                </a:ext>
              </a:extLst>
            </p:cNvPr>
            <p:cNvSpPr/>
            <p:nvPr/>
          </p:nvSpPr>
          <p:spPr>
            <a:xfrm>
              <a:off x="4846320" y="3602736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850" dirty="0"/>
            </a:p>
          </p:txBody>
        </p:sp>
        <p:sp>
          <p:nvSpPr>
            <p:cNvPr id="63" name="Shape 49">
              <a:extLst>
                <a:ext uri="{FF2B5EF4-FFF2-40B4-BE49-F238E27FC236}">
                  <a16:creationId xmlns:a16="http://schemas.microsoft.com/office/drawing/2014/main" id="{A41E0F59-73C4-416B-9C4C-D93C9F737E38}"/>
                </a:ext>
              </a:extLst>
            </p:cNvPr>
            <p:cNvSpPr/>
            <p:nvPr/>
          </p:nvSpPr>
          <p:spPr>
            <a:xfrm>
              <a:off x="4754880" y="2959022"/>
              <a:ext cx="4023360" cy="274320"/>
            </a:xfrm>
            <a:prstGeom prst="rect">
              <a:avLst/>
            </a:prstGeom>
            <a:solidFill>
              <a:srgbClr val="21262D"/>
            </a:solidFill>
            <a:ln/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4" name="Text 50">
              <a:extLst>
                <a:ext uri="{FF2B5EF4-FFF2-40B4-BE49-F238E27FC236}">
                  <a16:creationId xmlns:a16="http://schemas.microsoft.com/office/drawing/2014/main" id="{8D5DDD07-8775-7525-05A3-E391E6C3ED06}"/>
                </a:ext>
              </a:extLst>
            </p:cNvPr>
            <p:cNvSpPr/>
            <p:nvPr/>
          </p:nvSpPr>
          <p:spPr>
            <a:xfrm>
              <a:off x="4754880" y="29718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Mesure ultrasonique HC-SR04</a:t>
              </a:r>
              <a:endParaRPr lang="en-US" sz="850" dirty="0"/>
            </a:p>
          </p:txBody>
        </p:sp>
        <p:sp>
          <p:nvSpPr>
            <p:cNvPr id="65" name="Shape 51">
              <a:extLst>
                <a:ext uri="{FF2B5EF4-FFF2-40B4-BE49-F238E27FC236}">
                  <a16:creationId xmlns:a16="http://schemas.microsoft.com/office/drawing/2014/main" id="{C70E5FA9-0F49-CFF1-EECF-5D32A0D3C78F}"/>
                </a:ext>
              </a:extLst>
            </p:cNvPr>
            <p:cNvSpPr/>
            <p:nvPr/>
          </p:nvSpPr>
          <p:spPr>
            <a:xfrm>
              <a:off x="4754880" y="3246120"/>
              <a:ext cx="4023360" cy="1508760"/>
            </a:xfrm>
            <a:prstGeom prst="rect">
              <a:avLst/>
            </a:prstGeom>
            <a:solidFill>
              <a:srgbClr val="161B22"/>
            </a:solidFill>
            <a:ln w="9525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Text 52">
              <a:extLst>
                <a:ext uri="{FF2B5EF4-FFF2-40B4-BE49-F238E27FC236}">
                  <a16:creationId xmlns:a16="http://schemas.microsoft.com/office/drawing/2014/main" id="{8F380DC8-100A-6AF7-AB9D-C3AA254A14BB}"/>
                </a:ext>
              </a:extLst>
            </p:cNvPr>
            <p:cNvSpPr/>
            <p:nvPr/>
          </p:nvSpPr>
          <p:spPr>
            <a:xfrm>
              <a:off x="4846320" y="3291840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long </a:t>
              </a:r>
              <a:endParaRPr lang="en-US" sz="850" dirty="0"/>
            </a:p>
          </p:txBody>
        </p:sp>
        <p:sp>
          <p:nvSpPr>
            <p:cNvPr id="67" name="Text 53">
              <a:extLst>
                <a:ext uri="{FF2B5EF4-FFF2-40B4-BE49-F238E27FC236}">
                  <a16:creationId xmlns:a16="http://schemas.microsoft.com/office/drawing/2014/main" id="{85BB4FBC-4349-445A-A0A6-FE695D136123}"/>
                </a:ext>
              </a:extLst>
            </p:cNvPr>
            <p:cNvSpPr/>
            <p:nvPr/>
          </p:nvSpPr>
          <p:spPr>
            <a:xfrm>
              <a:off x="4846320" y="3454603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D2A8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getDistance</a:t>
              </a:r>
              <a:endParaRPr lang="en-US" sz="850" dirty="0"/>
            </a:p>
          </p:txBody>
        </p:sp>
        <p:sp>
          <p:nvSpPr>
            <p:cNvPr id="68" name="Text 54">
              <a:extLst>
                <a:ext uri="{FF2B5EF4-FFF2-40B4-BE49-F238E27FC236}">
                  <a16:creationId xmlns:a16="http://schemas.microsoft.com/office/drawing/2014/main" id="{C27FA95C-558B-5FB1-5DE6-D9B9D57D45C9}"/>
                </a:ext>
              </a:extLst>
            </p:cNvPr>
            <p:cNvSpPr/>
            <p:nvPr/>
          </p:nvSpPr>
          <p:spPr>
            <a:xfrm>
              <a:off x="4846320" y="3617366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  <a:endParaRPr lang="en-US" sz="850" dirty="0"/>
            </a:p>
          </p:txBody>
        </p:sp>
        <p:sp>
          <p:nvSpPr>
            <p:cNvPr id="69" name="Text 55">
              <a:extLst>
                <a:ext uri="{FF2B5EF4-FFF2-40B4-BE49-F238E27FC236}">
                  <a16:creationId xmlns:a16="http://schemas.microsoft.com/office/drawing/2014/main" id="{3297034E-4B43-1BA6-D73C-79A7F118432D}"/>
                </a:ext>
              </a:extLst>
            </p:cNvPr>
            <p:cNvSpPr/>
            <p:nvPr/>
          </p:nvSpPr>
          <p:spPr>
            <a:xfrm>
              <a:off x="4846320" y="3780130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digitalWrite(TRIG_PIN, LOW);</a:t>
              </a:r>
              <a:endParaRPr lang="en-US" sz="850" dirty="0"/>
            </a:p>
          </p:txBody>
        </p:sp>
        <p:sp>
          <p:nvSpPr>
            <p:cNvPr id="70" name="Text 56">
              <a:extLst>
                <a:ext uri="{FF2B5EF4-FFF2-40B4-BE49-F238E27FC236}">
                  <a16:creationId xmlns:a16="http://schemas.microsoft.com/office/drawing/2014/main" id="{5E574DC7-498A-49F7-CDF1-B5A9B70E6A36}"/>
                </a:ext>
              </a:extLst>
            </p:cNvPr>
            <p:cNvSpPr/>
            <p:nvPr/>
          </p:nvSpPr>
          <p:spPr>
            <a:xfrm>
              <a:off x="4846320" y="3942893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delayMicroseconds(2);</a:t>
              </a:r>
              <a:endParaRPr lang="en-US" sz="850" dirty="0"/>
            </a:p>
          </p:txBody>
        </p:sp>
        <p:sp>
          <p:nvSpPr>
            <p:cNvPr id="71" name="Text 57">
              <a:extLst>
                <a:ext uri="{FF2B5EF4-FFF2-40B4-BE49-F238E27FC236}">
                  <a16:creationId xmlns:a16="http://schemas.microsoft.com/office/drawing/2014/main" id="{B3F37A59-1CF5-2769-1B76-2B1C2D4EB0B8}"/>
                </a:ext>
              </a:extLst>
            </p:cNvPr>
            <p:cNvSpPr/>
            <p:nvPr/>
          </p:nvSpPr>
          <p:spPr>
            <a:xfrm>
              <a:off x="4846320" y="4105656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digitalWrite(TRIG_PIN, HIGH);</a:t>
              </a:r>
              <a:endParaRPr lang="en-US" sz="850" dirty="0"/>
            </a:p>
          </p:txBody>
        </p:sp>
        <p:sp>
          <p:nvSpPr>
            <p:cNvPr id="72" name="Text 58">
              <a:extLst>
                <a:ext uri="{FF2B5EF4-FFF2-40B4-BE49-F238E27FC236}">
                  <a16:creationId xmlns:a16="http://schemas.microsoft.com/office/drawing/2014/main" id="{2DCE14AB-1F43-D768-A25C-4D4A1D0FA083}"/>
                </a:ext>
              </a:extLst>
            </p:cNvPr>
            <p:cNvSpPr/>
            <p:nvPr/>
          </p:nvSpPr>
          <p:spPr>
            <a:xfrm>
              <a:off x="4846320" y="4268419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delayMicroseconds(10);</a:t>
              </a:r>
              <a:endParaRPr lang="en-US" sz="850" dirty="0"/>
            </a:p>
          </p:txBody>
        </p:sp>
        <p:sp>
          <p:nvSpPr>
            <p:cNvPr id="73" name="Text 59">
              <a:extLst>
                <a:ext uri="{FF2B5EF4-FFF2-40B4-BE49-F238E27FC236}">
                  <a16:creationId xmlns:a16="http://schemas.microsoft.com/office/drawing/2014/main" id="{0F326B81-FBF1-30B3-41DC-1BF2A7442E48}"/>
                </a:ext>
              </a:extLst>
            </p:cNvPr>
            <p:cNvSpPr/>
            <p:nvPr/>
          </p:nvSpPr>
          <p:spPr>
            <a:xfrm>
              <a:off x="4846320" y="4431182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long dur = pulseIn(ECHO_PIN, HIGH, 25000);</a:t>
              </a:r>
              <a:endParaRPr lang="en-US" sz="850" dirty="0"/>
            </a:p>
          </p:txBody>
        </p:sp>
        <p:sp>
          <p:nvSpPr>
            <p:cNvPr id="74" name="Text 60">
              <a:extLst>
                <a:ext uri="{FF2B5EF4-FFF2-40B4-BE49-F238E27FC236}">
                  <a16:creationId xmlns:a16="http://schemas.microsoft.com/office/drawing/2014/main" id="{02C43266-D985-9474-BAE2-45A6B4B096CF}"/>
                </a:ext>
              </a:extLst>
            </p:cNvPr>
            <p:cNvSpPr/>
            <p:nvPr/>
          </p:nvSpPr>
          <p:spPr>
            <a:xfrm>
              <a:off x="4846320" y="4593946"/>
              <a:ext cx="384048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return (dur==0) ? 999 : dur*0.034/2;</a:t>
              </a:r>
              <a:endParaRPr lang="en-US" sz="850" dirty="0"/>
            </a:p>
          </p:txBody>
        </p: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7D3ACEA8-7ED1-B94A-7C41-A1367F0F76DD}"/>
              </a:ext>
            </a:extLst>
          </p:cNvPr>
          <p:cNvGrpSpPr/>
          <p:nvPr/>
        </p:nvGrpSpPr>
        <p:grpSpPr>
          <a:xfrm>
            <a:off x="4754880" y="1027174"/>
            <a:ext cx="4023360" cy="1924812"/>
            <a:chOff x="4754880" y="1143000"/>
            <a:chExt cx="4023360" cy="1924812"/>
          </a:xfrm>
        </p:grpSpPr>
        <p:sp>
          <p:nvSpPr>
            <p:cNvPr id="76" name="Shape 33">
              <a:extLst>
                <a:ext uri="{FF2B5EF4-FFF2-40B4-BE49-F238E27FC236}">
                  <a16:creationId xmlns:a16="http://schemas.microsoft.com/office/drawing/2014/main" id="{7991B8B5-83B1-67F0-BAC0-8B5ED12486BE}"/>
                </a:ext>
              </a:extLst>
            </p:cNvPr>
            <p:cNvSpPr/>
            <p:nvPr/>
          </p:nvSpPr>
          <p:spPr>
            <a:xfrm>
              <a:off x="4754880" y="1143000"/>
              <a:ext cx="4023360" cy="274320"/>
            </a:xfrm>
            <a:prstGeom prst="rect">
              <a:avLst/>
            </a:prstGeom>
            <a:solidFill>
              <a:srgbClr val="21262D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Text 34">
              <a:extLst>
                <a:ext uri="{FF2B5EF4-FFF2-40B4-BE49-F238E27FC236}">
                  <a16:creationId xmlns:a16="http://schemas.microsoft.com/office/drawing/2014/main" id="{D4E43275-E9E9-69D7-49C2-ED1DE1BAAE44}"/>
                </a:ext>
              </a:extLst>
            </p:cNvPr>
            <p:cNvSpPr/>
            <p:nvPr/>
          </p:nvSpPr>
          <p:spPr>
            <a:xfrm>
              <a:off x="4754880" y="114300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Balayage servo pendant extinction</a:t>
              </a:r>
              <a:endParaRPr lang="en-US" sz="850" dirty="0"/>
            </a:p>
          </p:txBody>
        </p:sp>
        <p:sp>
          <p:nvSpPr>
            <p:cNvPr id="78" name="Shape 35">
              <a:extLst>
                <a:ext uri="{FF2B5EF4-FFF2-40B4-BE49-F238E27FC236}">
                  <a16:creationId xmlns:a16="http://schemas.microsoft.com/office/drawing/2014/main" id="{471E1FF6-5681-CDB5-94BD-30618270E93D}"/>
                </a:ext>
              </a:extLst>
            </p:cNvPr>
            <p:cNvSpPr/>
            <p:nvPr/>
          </p:nvSpPr>
          <p:spPr>
            <a:xfrm>
              <a:off x="4754880" y="1417320"/>
              <a:ext cx="4023360" cy="1650492"/>
            </a:xfrm>
            <a:prstGeom prst="rect">
              <a:avLst/>
            </a:prstGeom>
            <a:solidFill>
              <a:srgbClr val="161B22"/>
            </a:solidFill>
            <a:ln w="9525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 36">
              <a:extLst>
                <a:ext uri="{FF2B5EF4-FFF2-40B4-BE49-F238E27FC236}">
                  <a16:creationId xmlns:a16="http://schemas.microsoft.com/office/drawing/2014/main" id="{1A551C40-364A-4F3A-5F19-C0C6FC17482E}"/>
                </a:ext>
              </a:extLst>
            </p:cNvPr>
            <p:cNvSpPr/>
            <p:nvPr/>
          </p:nvSpPr>
          <p:spPr>
            <a:xfrm>
              <a:off x="4846320" y="1463040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</a:t>
              </a:r>
              <a:endParaRPr lang="en-US" sz="850" dirty="0"/>
            </a:p>
          </p:txBody>
        </p:sp>
        <p:sp>
          <p:nvSpPr>
            <p:cNvPr id="107" name="Text 37">
              <a:extLst>
                <a:ext uri="{FF2B5EF4-FFF2-40B4-BE49-F238E27FC236}">
                  <a16:creationId xmlns:a16="http://schemas.microsoft.com/office/drawing/2014/main" id="{DAF9CDD2-5BBF-9888-5861-1DE6DED6EDCA}"/>
                </a:ext>
              </a:extLst>
            </p:cNvPr>
            <p:cNvSpPr/>
            <p:nvPr/>
          </p:nvSpPr>
          <p:spPr>
            <a:xfrm>
              <a:off x="4846320" y="1641348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D2A8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sweepServo</a:t>
              </a:r>
              <a:endParaRPr lang="en-US" sz="850" dirty="0"/>
            </a:p>
          </p:txBody>
        </p:sp>
        <p:sp>
          <p:nvSpPr>
            <p:cNvPr id="108" name="Text 38">
              <a:extLst>
                <a:ext uri="{FF2B5EF4-FFF2-40B4-BE49-F238E27FC236}">
                  <a16:creationId xmlns:a16="http://schemas.microsoft.com/office/drawing/2014/main" id="{331ECD7F-5DE4-A477-E73E-E8C3E50AC18D}"/>
                </a:ext>
              </a:extLst>
            </p:cNvPr>
            <p:cNvSpPr/>
            <p:nvPr/>
          </p:nvSpPr>
          <p:spPr>
            <a:xfrm>
              <a:off x="4846320" y="1819656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  <a:endParaRPr lang="en-US" sz="850" dirty="0"/>
            </a:p>
          </p:txBody>
        </p:sp>
        <p:sp>
          <p:nvSpPr>
            <p:cNvPr id="109" name="Text 39">
              <a:extLst>
                <a:ext uri="{FF2B5EF4-FFF2-40B4-BE49-F238E27FC236}">
                  <a16:creationId xmlns:a16="http://schemas.microsoft.com/office/drawing/2014/main" id="{B86C5FF0-B53A-C2E7-5D9D-23B69D6719DB}"/>
                </a:ext>
              </a:extLst>
            </p:cNvPr>
            <p:cNvSpPr/>
            <p:nvPr/>
          </p:nvSpPr>
          <p:spPr>
            <a:xfrm>
              <a:off x="4846320" y="1997964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7B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for </a:t>
              </a:r>
              <a:endParaRPr lang="en-US" sz="850" dirty="0"/>
            </a:p>
          </p:txBody>
        </p:sp>
        <p:sp>
          <p:nvSpPr>
            <p:cNvPr id="110" name="Text 40">
              <a:extLst>
                <a:ext uri="{FF2B5EF4-FFF2-40B4-BE49-F238E27FC236}">
                  <a16:creationId xmlns:a16="http://schemas.microsoft.com/office/drawing/2014/main" id="{35C9C79D-F5E6-B82A-65FD-25CBE084D173}"/>
                </a:ext>
              </a:extLst>
            </p:cNvPr>
            <p:cNvSpPr/>
            <p:nvPr/>
          </p:nvSpPr>
          <p:spPr>
            <a:xfrm>
              <a:off x="4846320" y="2176272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(int i=10; i&lt;=170; i+=2) {</a:t>
              </a:r>
              <a:endParaRPr lang="en-US" sz="850" dirty="0"/>
            </a:p>
          </p:txBody>
        </p:sp>
        <p:sp>
          <p:nvSpPr>
            <p:cNvPr id="111" name="Text 41">
              <a:extLst>
                <a:ext uri="{FF2B5EF4-FFF2-40B4-BE49-F238E27FC236}">
                  <a16:creationId xmlns:a16="http://schemas.microsoft.com/office/drawing/2014/main" id="{9FCD495E-FCE7-4501-2092-C60558396307}"/>
                </a:ext>
              </a:extLst>
            </p:cNvPr>
            <p:cNvSpPr/>
            <p:nvPr/>
          </p:nvSpPr>
          <p:spPr>
            <a:xfrm>
              <a:off x="4846320" y="2354580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myservo.</a:t>
              </a:r>
              <a:endParaRPr lang="en-US" sz="850" dirty="0"/>
            </a:p>
          </p:txBody>
        </p:sp>
        <p:sp>
          <p:nvSpPr>
            <p:cNvPr id="112" name="Text 42">
              <a:extLst>
                <a:ext uri="{FF2B5EF4-FFF2-40B4-BE49-F238E27FC236}">
                  <a16:creationId xmlns:a16="http://schemas.microsoft.com/office/drawing/2014/main" id="{D53B1A4A-3B19-53A8-0041-3B313F0544C7}"/>
                </a:ext>
              </a:extLst>
            </p:cNvPr>
            <p:cNvSpPr/>
            <p:nvPr/>
          </p:nvSpPr>
          <p:spPr>
            <a:xfrm>
              <a:off x="4846320" y="2532888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D2A8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write</a:t>
              </a:r>
              <a:endParaRPr lang="en-US" sz="850" dirty="0"/>
            </a:p>
          </p:txBody>
        </p:sp>
        <p:sp>
          <p:nvSpPr>
            <p:cNvPr id="113" name="Text 43">
              <a:extLst>
                <a:ext uri="{FF2B5EF4-FFF2-40B4-BE49-F238E27FC236}">
                  <a16:creationId xmlns:a16="http://schemas.microsoft.com/office/drawing/2014/main" id="{AB104C4E-4C21-40C8-5CB3-1F8F4D1278D8}"/>
                </a:ext>
              </a:extLst>
            </p:cNvPr>
            <p:cNvSpPr/>
            <p:nvPr/>
          </p:nvSpPr>
          <p:spPr>
            <a:xfrm>
              <a:off x="4846320" y="2711196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(i);</a:t>
              </a:r>
              <a:endParaRPr lang="en-US" sz="850" dirty="0"/>
            </a:p>
          </p:txBody>
        </p:sp>
        <p:sp>
          <p:nvSpPr>
            <p:cNvPr id="114" name="Text 44">
              <a:extLst>
                <a:ext uri="{FF2B5EF4-FFF2-40B4-BE49-F238E27FC236}">
                  <a16:creationId xmlns:a16="http://schemas.microsoft.com/office/drawing/2014/main" id="{7BE6003D-BB17-DBD5-0BF8-C2792835613D}"/>
                </a:ext>
              </a:extLst>
            </p:cNvPr>
            <p:cNvSpPr/>
            <p:nvPr/>
          </p:nvSpPr>
          <p:spPr>
            <a:xfrm>
              <a:off x="4846320" y="2889504"/>
              <a:ext cx="38404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delay(15);</a:t>
              </a:r>
              <a:endParaRPr lang="en-US" sz="850" dirty="0"/>
            </a:p>
          </p:txBody>
        </p:sp>
      </p:grpSp>
    </p:spTree>
    <p:extLst>
      <p:ext uri="{BB962C8B-B14F-4D97-AF65-F5344CB8AC3E}">
        <p14:creationId xmlns:p14="http://schemas.microsoft.com/office/powerpoint/2010/main" val="1077088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3463-E1EC-C928-3CE3-9E4320B0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9D4AF7B3-EACE-529C-27BC-0375728F74E5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71DF394D-17C4-E945-E7FB-D92081FF2FD6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C3064F58-AFF5-7BA2-B0FC-6642D674144A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DF28AC15-C943-57BE-87F5-E2A4C7DF679B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5F3C76AF-B616-D46E-CB5E-6B550F1901CF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171B7871-0E93-6652-B4A1-F02773C373FB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08EA724-7CDE-AFB2-2804-A5E8BDAB94A0}"/>
              </a:ext>
            </a:extLst>
          </p:cNvPr>
          <p:cNvSpPr/>
          <p:nvPr/>
        </p:nvSpPr>
        <p:spPr>
          <a:xfrm>
            <a:off x="-15008" y="502918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1EBB8B45-E057-9608-B4D1-9AA463523671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29">
            <a:extLst>
              <a:ext uri="{FF2B5EF4-FFF2-40B4-BE49-F238E27FC236}">
                <a16:creationId xmlns:a16="http://schemas.microsoft.com/office/drawing/2014/main" id="{E35DB58A-EFD7-A4F4-434E-8E8DA8B6FE62}"/>
              </a:ext>
            </a:extLst>
          </p:cNvPr>
          <p:cNvSpPr/>
          <p:nvPr/>
        </p:nvSpPr>
        <p:spPr>
          <a:xfrm>
            <a:off x="330487" y="-14592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5E381CB4-53DA-1651-2EC1-1D5CF7DC44C6}"/>
              </a:ext>
            </a:extLst>
          </p:cNvPr>
          <p:cNvSpPr/>
          <p:nvPr/>
        </p:nvSpPr>
        <p:spPr>
          <a:xfrm>
            <a:off x="1407469" y="-45721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72A831D1-A23D-7444-1920-912EFDFC9D69}"/>
              </a:ext>
            </a:extLst>
          </p:cNvPr>
          <p:cNvSpPr/>
          <p:nvPr/>
        </p:nvSpPr>
        <p:spPr>
          <a:xfrm>
            <a:off x="1407469" y="215645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8F068ED-35B9-C9AE-D9A2-E35D886983EA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</a:t>
            </a:r>
            <a:endParaRPr lang="en-US" sz="2600" dirty="0">
              <a:solidFill>
                <a:srgbClr val="FB8C00"/>
              </a:solidFill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B0999E6D-F1D4-197A-6AD7-21D74D698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974537"/>
              </p:ext>
            </p:extLst>
          </p:nvPr>
        </p:nvGraphicFramePr>
        <p:xfrm>
          <a:off x="662940" y="1236725"/>
          <a:ext cx="7818120" cy="32644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DU ROBOT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POMPE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ARRÊT + Balayage servo 10°–170°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97B"/>
                          </a:solidFill>
                        </a:rPr>
                        <a:t>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gauche (turnSpeed=180)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8909C"/>
                          </a:solidFill>
                        </a:rPr>
                        <a:t>OFF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droite (turnSpeed=180)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8909C"/>
                          </a:solidFill>
                        </a:rPr>
                        <a:t>OFF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gauche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8909C"/>
                          </a:solidFill>
                        </a:rPr>
                        <a:t>OFF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–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droite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8909C"/>
                          </a:solidFill>
                        </a:rPr>
                        <a:t>OFF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Avancer + ultrasonique actif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8909C"/>
                          </a:solidFill>
                        </a:rPr>
                        <a:t>OFF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7">
            <a:extLst>
              <a:ext uri="{FF2B5EF4-FFF2-40B4-BE49-F238E27FC236}">
                <a16:creationId xmlns:a16="http://schemas.microsoft.com/office/drawing/2014/main" id="{05556884-1E5C-8B27-EF40-3F2D291F69F7}"/>
              </a:ext>
            </a:extLst>
          </p:cNvPr>
          <p:cNvSpPr/>
          <p:nvPr/>
        </p:nvSpPr>
        <p:spPr>
          <a:xfrm>
            <a:off x="388620" y="456857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feu détecté (signal actif bas)   ·   – = état non concerné   ·   FC est le capteur prioritaire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322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B0E4-C5FA-4F6B-33E5-988AD7BE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15A0E5-CAEF-752E-1E7B-9DD872A08E8A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F53B1C8-F9C3-CA8B-F6C5-30AC3E152CA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5A2250-903F-DF0F-1E58-4B229BF3DB22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F9FC3A9-7EF1-B632-ED7F-0515C8B80493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3062206-FC31-EA4F-8201-5DC3F3B375BD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FED7744-62DC-E0AD-8CB4-3A339565DA80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7FC018D-0051-7FEC-68E7-029290A2E287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8D066A5-752E-2686-FEB7-7355326D0B1F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FB0FBAD-C796-F56A-1A15-7B37AB2B1053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FE9D130-E5CC-ED22-CAFA-70E56AEDF0B6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7F98B92-B952-E953-BA6D-07D6F5339E9E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AB7B2EB9-9582-8D2E-708F-FBEF7FD215AA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4DA47C8-D62A-F05C-7390-78FB67E99A51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D35C4AE-89E7-3150-A983-A629503847A7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CD7E9A9-D7B0-6EB5-9CAB-B04F5D555920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1AF58700-B51B-7418-85A6-12947168EF02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D4B0E36-4192-DF05-233D-BF6399D97401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D099903C-7A8A-73FA-79B3-2A5FDE03B2D8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7F7804F2-6B58-0E17-9B02-95E381FB9190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228D74E-9291-5237-5E26-9EDAFBAA1C59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C09A6D2-A4EB-B383-F3C3-057380BCD5D5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A1B6E3F-0F22-56D8-DC27-E350013D066A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92D211E-14E8-0EB2-6EEE-0F03D8B27E99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CB363895-B4AB-2512-FE5F-DFB4ED3CBEC2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429832F6-9D25-30C3-0B7E-C5AD9928AAE4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8086550F-5ACE-3340-7EE8-DD6F9688EC68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71015DF9-F5A7-7134-1920-60E356449BA7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7C3343F2-E20D-7383-467D-CDD3FB8823CF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D4697DDE-D79F-9EC6-9E32-0C064343CBEB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B87E9213-3D03-6A66-8080-F4CF8F8D85BB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3F99AFD6-1951-11B2-FDBF-06160DD1C6C5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C13A609F-5A08-F8BD-9539-6164C9C79281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5696E996-ED3F-E354-1F2D-2719A808CF68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2C682FF5-4920-1DF5-B799-E87C993F70D1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63AC703F-2E03-C190-81A0-D690115F039F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0F68623D-1D90-0809-9B93-1F0C01094AF1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1B3484FA-18A5-0A7E-E695-83DBF62FBFDF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F5AA0B75-5A3F-18BC-BFEC-A479E945784B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631B693C-363A-5B86-4C0F-4E8BBDE6E31F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D9489E9E-5DD5-758A-25EE-1C88CFF2AB17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4C5193AD-F6F1-6FE1-9CD2-39FEBB44F5C0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3744497E-818C-415A-1C80-E199B0A9A6FA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2DACE276-BE00-4B97-3D75-6C03AC68B7C7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CDF6907B-3855-4961-7139-1EB370E04F75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851A8A81-070C-4A81-A926-0D05CCDF7E71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728C8336-F4E7-C3B6-04D8-9CDC920EE3BA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CEE6C993-FFFD-8DBA-7ACA-F95FB0B536D9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CC47E711-9AF5-84D8-5071-EF4BBC165293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2FE594D-2FF5-F3CE-D470-821B46CEA031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95C524AB-EFEF-E715-6A04-B1FD77514ED5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3AF76FB9-18B2-7E5A-D13B-05B7353A3EC8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6348C604-7970-426F-5CFB-2C79BC70DE1E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631F069-48E2-AD36-6A94-70CF3A877457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F7353441-FC2E-D083-5F8A-BA87ACD99D55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F346FAD3-0B7A-FECA-4C0B-0BCD92CB8167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06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57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 de performance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validation des fonctionnalités</a:t>
            </a:r>
            <a:endParaRPr lang="en-US" sz="1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FA61900-787F-F6FE-E320-BE7941F7EB54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B5BC-2567-73DB-98A3-A3EEC8E9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13AE3942-1045-B8FB-980B-90F539A4FD46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D0FD6FB8-985A-BAEF-A264-54C1C83FE99A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9B871897-32FB-C955-A428-623433BED348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3669EC80-2E3D-32CB-FAA8-32149E284F59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BBD38A25-D3F7-AEF1-0ADC-CD95315C33A2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E4B8DA53-37DB-C5DB-CD41-EB018AB90B68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F9DC8B9-A655-B47F-A67B-CE39167B0F16}"/>
              </a:ext>
            </a:extLst>
          </p:cNvPr>
          <p:cNvSpPr/>
          <p:nvPr/>
        </p:nvSpPr>
        <p:spPr>
          <a:xfrm>
            <a:off x="-15008" y="502918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DB5AAA60-7B5F-7054-DAD6-527B9C8FDE31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0A77CBB-57BF-9AB7-00CF-0AE135A99F0B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Tests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</a:t>
            </a:r>
            <a:endParaRPr lang="en-US" sz="2600" dirty="0">
              <a:solidFill>
                <a:srgbClr val="FB8C00"/>
              </a:solidFill>
            </a:endParaRP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028A7FC4-0339-FCFB-1A5C-42727828042A}"/>
              </a:ext>
            </a:extLst>
          </p:cNvPr>
          <p:cNvSpPr/>
          <p:nvPr/>
        </p:nvSpPr>
        <p:spPr>
          <a:xfrm>
            <a:off x="330487" y="-130303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14" name="Text 35">
            <a:extLst>
              <a:ext uri="{FF2B5EF4-FFF2-40B4-BE49-F238E27FC236}">
                <a16:creationId xmlns:a16="http://schemas.microsoft.com/office/drawing/2014/main" id="{05EF1B10-7AB5-39CE-6FEF-83EB49433814}"/>
              </a:ext>
            </a:extLst>
          </p:cNvPr>
          <p:cNvSpPr/>
          <p:nvPr/>
        </p:nvSpPr>
        <p:spPr>
          <a:xfrm>
            <a:off x="1407469" y="-365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303E52C-64CE-67BC-D884-79BB2A56A28A}"/>
              </a:ext>
            </a:extLst>
          </p:cNvPr>
          <p:cNvSpPr/>
          <p:nvPr/>
        </p:nvSpPr>
        <p:spPr>
          <a:xfrm>
            <a:off x="1407469" y="22555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graphicFrame>
        <p:nvGraphicFramePr>
          <p:cNvPr id="39" name="Table 0">
            <a:extLst>
              <a:ext uri="{FF2B5EF4-FFF2-40B4-BE49-F238E27FC236}">
                <a16:creationId xmlns:a16="http://schemas.microsoft.com/office/drawing/2014/main" id="{848B48CE-1BEB-E834-E188-4678A1C3F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35909"/>
              </p:ext>
            </p:extLst>
          </p:nvPr>
        </p:nvGraphicFramePr>
        <p:xfrm>
          <a:off x="1012697" y="1135380"/>
          <a:ext cx="7178040" cy="353872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Résultat attendu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Résultat obtenu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Détection FC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Feu à 30 cm, axe central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Arrêt + pompe 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Arrêt + pompe 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Détection FL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Feu à gauche 45°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gauche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gauche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Détection FR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Feu à droite 45°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droite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Rotation droite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Évitement obstacle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Obstacle à 15 cm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Tourne droite 600 ms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Tourne droite ~620 ms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Balayage servo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Feu centré détecté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Sweep 10°→170°→10°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Sweep complet ~2.5 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Arrêt pompe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Feu éteint (FC = HIGH)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Pompe OFF immédiat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Pompe OFF &lt;50 ms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Affichage DHT22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Temp 25°C, Hum 55%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Affichage LCD mis à jour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Affichage correct 2s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Aucun feu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Environnement sans feu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Avance + scan US actif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7474F"/>
                          </a:solidFill>
                        </a:rPr>
                        <a:t>Navigation normale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97B"/>
                          </a:solidFill>
                        </a:rPr>
                        <a:t>✓ OK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0" name="Text 7">
            <a:extLst>
              <a:ext uri="{FF2B5EF4-FFF2-40B4-BE49-F238E27FC236}">
                <a16:creationId xmlns:a16="http://schemas.microsoft.com/office/drawing/2014/main" id="{A527F365-5598-977E-CB27-C5135CFCE59E}"/>
              </a:ext>
            </a:extLst>
          </p:cNvPr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0897B"/>
                </a:solidFill>
              </a:rPr>
              <a:t>Tous les tests ont été validés avec succès — Taux de réussite : 100%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3103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1EE1-2410-125F-5C30-900D7A41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F645D9-329C-EAF4-7B88-A07BF1FAFD9F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CC97BA4-5C08-1283-F9E5-574DADCC2D3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5F1E767-854E-5709-C2E6-D02B836B24FD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09B96C-BD68-0240-01AF-B74B8F41914A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0804CCF-9E70-2027-5A2C-1A56193C6C02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288BC93-84FF-A7D9-E9D0-F309C8677806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C3863AF-9DA5-9902-54DE-A6F62DCDEB4F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6A9A7D3-160E-AB57-EED9-8854ECF57C5A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1F65690-65FF-1307-864D-A2C254468DEF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998496E-D231-82A4-2DE4-2BB4FDE0C47E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1EE946E-946B-D0A7-3937-3EAE8ABA20D0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F973933-8838-A492-3F8D-AF99CAC2516A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55BCD9F2-92F8-C42D-27F3-56920C399304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74D5259A-1A1F-A8E6-5880-C6B6697FEF33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28B88B3-6913-07F5-2DD5-6B19C067451F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8519D32-BE2C-45DC-BEEB-EFBCA2049241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1886102C-9982-48D1-0217-89D05453F47F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147C42CC-628C-DBB8-3E6D-F53A4203A404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54BE2823-D87C-0072-3033-0627AD24A7F8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5B5A99C-3BB8-0CA5-A7B2-82E2FFF3600B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E8D10FC-9B8B-65C7-974E-B3235AE1CA4B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CE3FC412-76FB-09B7-DB90-617AA8183BBC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3469D49-37F6-405A-7A76-816249B8B0F0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6F720865-2ABD-BA9E-F654-A4F26E167163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6B88D793-5944-1066-1D3B-80868221C108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A878B930-8F40-34D9-7344-052EB44F42EE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21725B0F-2B99-C541-2475-D05AC6FD8010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86201675-F36B-7316-F0E8-727722A60B5B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4F39A375-C157-F100-8D74-2F70414FFFB4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B93B460B-7EF4-F710-3E2F-37535B6310D6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004FD32C-27B4-DE3D-3807-5235424714D4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7A85F363-EFD6-CDD0-D0C8-75BB44DC1842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20E10718-C0B5-4BDC-F364-1A5957BADD00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B56E02DC-B144-3166-0A8F-74F37D50E738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05C654FC-71DB-0EC3-C7F8-11A1C4B0E4FA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401EC29A-130A-D456-729E-143345844C0C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AD888C52-7775-03D9-5F2C-9BDB8EAC6C15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B78339A4-3C03-6B0A-7D51-28DC69279FC2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EBC622FB-99D1-2950-5BE9-C82A0733E7E5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F5A7785E-3E91-9908-CF05-2BFB8B14DFB6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641B928C-A355-97BB-7712-417BF70DE1F9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1D84593B-F202-AC91-4872-E87D06FE648F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6BAB3AD3-78FE-FCE0-C517-22A11720D324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8F6F8A1A-E1E3-955C-BEF5-B4E5361C45D3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24913BFB-E52F-006C-4074-743757523B1C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1FE3EA12-982A-1880-43D1-5CD2BD88725B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8D2D02C7-03ED-E192-D14B-5B2453009A63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8633450-2F76-4B1B-C3FB-4F2A5491F2D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758C7870-A4A4-199F-BDE6-242B0CF3D0A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33B2B0E5-5399-00EA-399A-5D4CE6B83B16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B5B7196-0476-C6EC-7C75-8A6B3EFBA20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D585AEAF-1953-E456-A1A2-295D44B74175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4A76CD0A-AF52-46A1-84E4-C74CED290EAC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94D947E8-F87E-8741-AFDA-51B8DC0665A6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A7518926-8A95-CB1A-4BE4-5D8E696CE49B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503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4FD5-D06C-57F1-AA6D-823F8128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51A4B903-B031-1126-8DC1-2D0FB7645B37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915ED181-1AA1-6EC0-60C3-0A692D6A0899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A74230AB-6A62-C395-8F71-4B7BCCEB6D26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B33DC4A4-3C88-094F-98AE-280E0B869294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156909E2-9F24-96E6-ECE2-B91B8C193D91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8E6A3696-1FB7-EF14-2B08-5437C3302ABA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8D54FD6-20B0-D7AE-169F-45CDBAE73E00}"/>
              </a:ext>
            </a:extLst>
          </p:cNvPr>
          <p:cNvSpPr/>
          <p:nvPr/>
        </p:nvSpPr>
        <p:spPr>
          <a:xfrm>
            <a:off x="-15008" y="502918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2E3DA8D-2466-CB00-C391-5E66C42F8E71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973D33B-51D2-A6C4-D479-AC5F8C53AB36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Rencontrés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Adoptées</a:t>
            </a:r>
            <a:endParaRPr lang="en-US" sz="2600" dirty="0">
              <a:solidFill>
                <a:srgbClr val="FB8C00"/>
              </a:solidFill>
            </a:endParaRPr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44E58F7B-551F-1E78-F5E1-88FCB3B9FA74}"/>
              </a:ext>
            </a:extLst>
          </p:cNvPr>
          <p:cNvSpPr/>
          <p:nvPr/>
        </p:nvSpPr>
        <p:spPr>
          <a:xfrm>
            <a:off x="330487" y="-14935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11" name="Text 40">
            <a:extLst>
              <a:ext uri="{FF2B5EF4-FFF2-40B4-BE49-F238E27FC236}">
                <a16:creationId xmlns:a16="http://schemas.microsoft.com/office/drawing/2014/main" id="{D075159F-51FA-2EAA-3AD9-55115FAF9A6C}"/>
              </a:ext>
            </a:extLst>
          </p:cNvPr>
          <p:cNvSpPr/>
          <p:nvPr/>
        </p:nvSpPr>
        <p:spPr>
          <a:xfrm>
            <a:off x="1407469" y="-59435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12" name="Text 41">
            <a:extLst>
              <a:ext uri="{FF2B5EF4-FFF2-40B4-BE49-F238E27FC236}">
                <a16:creationId xmlns:a16="http://schemas.microsoft.com/office/drawing/2014/main" id="{FDE7B87A-518A-697D-9356-0524B34B2895}"/>
              </a:ext>
            </a:extLst>
          </p:cNvPr>
          <p:cNvSpPr/>
          <p:nvPr/>
        </p:nvSpPr>
        <p:spPr>
          <a:xfrm>
            <a:off x="1407469" y="208791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3A5A770C-FD3E-2DB6-4F93-CE2D14B1392D}"/>
              </a:ext>
            </a:extLst>
          </p:cNvPr>
          <p:cNvSpPr/>
          <p:nvPr/>
        </p:nvSpPr>
        <p:spPr>
          <a:xfrm>
            <a:off x="411480" y="1164336"/>
            <a:ext cx="83210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9458522C-C541-83A8-CC6D-062085E74147}"/>
              </a:ext>
            </a:extLst>
          </p:cNvPr>
          <p:cNvSpPr/>
          <p:nvPr/>
        </p:nvSpPr>
        <p:spPr>
          <a:xfrm>
            <a:off x="411480" y="1164336"/>
            <a:ext cx="54864" cy="42062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491AB1CB-898D-ECAF-9C27-AF9E3291E488}"/>
              </a:ext>
            </a:extLst>
          </p:cNvPr>
          <p:cNvSpPr/>
          <p:nvPr/>
        </p:nvSpPr>
        <p:spPr>
          <a:xfrm>
            <a:off x="411480" y="1584960"/>
            <a:ext cx="54864" cy="42062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F7052429-0090-3990-35DC-11E65D26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47216"/>
            <a:ext cx="411480" cy="411480"/>
          </a:xfrm>
          <a:prstGeom prst="rect">
            <a:avLst/>
          </a:prstGeom>
        </p:spPr>
      </p:pic>
      <p:sp>
        <p:nvSpPr>
          <p:cNvPr id="56" name="Text 10">
            <a:extLst>
              <a:ext uri="{FF2B5EF4-FFF2-40B4-BE49-F238E27FC236}">
                <a16:creationId xmlns:a16="http://schemas.microsoft.com/office/drawing/2014/main" id="{1CA579BB-F517-AA03-A3E9-E24B35BC6E76}"/>
              </a:ext>
            </a:extLst>
          </p:cNvPr>
          <p:cNvSpPr/>
          <p:nvPr/>
        </p:nvSpPr>
        <p:spPr>
          <a:xfrm>
            <a:off x="1024128" y="1210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C9068A27-B638-A7D8-11E1-3F098BF973B7}"/>
              </a:ext>
            </a:extLst>
          </p:cNvPr>
          <p:cNvSpPr/>
          <p:nvPr/>
        </p:nvSpPr>
        <p:spPr>
          <a:xfrm>
            <a:off x="2011680" y="12100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Conflit de timer ESP32 avec le servo-moteur</a:t>
            </a:r>
            <a:endParaRPr lang="en-US" sz="1000" dirty="0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3C80098C-A3C1-C389-4D4D-A5AEDF35F998}"/>
              </a:ext>
            </a:extLst>
          </p:cNvPr>
          <p:cNvSpPr/>
          <p:nvPr/>
        </p:nvSpPr>
        <p:spPr>
          <a:xfrm>
            <a:off x="1024128" y="1667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Solution :</a:t>
            </a:r>
            <a:endParaRPr lang="en-US" sz="90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B10C140B-7870-242E-4E5C-95C6A0451B6F}"/>
              </a:ext>
            </a:extLst>
          </p:cNvPr>
          <p:cNvSpPr/>
          <p:nvPr/>
        </p:nvSpPr>
        <p:spPr>
          <a:xfrm>
            <a:off x="2011680" y="1648968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</a:rPr>
              <a:t>Utilisation de ESP32Servo::allocateTimer(0) + setPeriodHertz(50) pour allouer un timer matériel dédié au servo SG90. Changement du GPIO de 13 vers 19.</a:t>
            </a:r>
            <a:endParaRPr lang="en-US" sz="950" dirty="0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E87AFF7F-32A0-1447-4E0B-049C2F255365}"/>
              </a:ext>
            </a:extLst>
          </p:cNvPr>
          <p:cNvSpPr/>
          <p:nvPr/>
        </p:nvSpPr>
        <p:spPr>
          <a:xfrm>
            <a:off x="411480" y="2078736"/>
            <a:ext cx="83210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12E29D8E-A23B-E0FA-242A-87D65B4F33B2}"/>
              </a:ext>
            </a:extLst>
          </p:cNvPr>
          <p:cNvSpPr/>
          <p:nvPr/>
        </p:nvSpPr>
        <p:spPr>
          <a:xfrm>
            <a:off x="411480" y="2078736"/>
            <a:ext cx="54864" cy="42062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B4C81C42-AD2D-6AE0-3AFD-7D0E2BE69D0E}"/>
              </a:ext>
            </a:extLst>
          </p:cNvPr>
          <p:cNvSpPr/>
          <p:nvPr/>
        </p:nvSpPr>
        <p:spPr>
          <a:xfrm>
            <a:off x="411480" y="2499360"/>
            <a:ext cx="54864" cy="42062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4" name="Image 1" descr="preencoded.png">
            <a:extLst>
              <a:ext uri="{FF2B5EF4-FFF2-40B4-BE49-F238E27FC236}">
                <a16:creationId xmlns:a16="http://schemas.microsoft.com/office/drawing/2014/main" id="{E866600B-7531-8008-CABD-3E7DD6A05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61616"/>
            <a:ext cx="411480" cy="411480"/>
          </a:xfrm>
          <a:prstGeom prst="rect">
            <a:avLst/>
          </a:prstGeom>
        </p:spPr>
      </p:pic>
      <p:sp>
        <p:nvSpPr>
          <p:cNvPr id="65" name="Text 17">
            <a:extLst>
              <a:ext uri="{FF2B5EF4-FFF2-40B4-BE49-F238E27FC236}">
                <a16:creationId xmlns:a16="http://schemas.microsoft.com/office/drawing/2014/main" id="{F1008CED-7B99-7CC8-9C08-33EEF039C894}"/>
              </a:ext>
            </a:extLst>
          </p:cNvPr>
          <p:cNvSpPr/>
          <p:nvPr/>
        </p:nvSpPr>
        <p:spPr>
          <a:xfrm>
            <a:off x="1024128" y="2124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B9C9FBFE-ED55-ADC0-A177-D332A421A9C6}"/>
              </a:ext>
            </a:extLst>
          </p:cNvPr>
          <p:cNvSpPr/>
          <p:nvPr/>
        </p:nvSpPr>
        <p:spPr>
          <a:xfrm>
            <a:off x="2011680" y="21244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Fausses détections des capteurs IR (lumière ambiante)</a:t>
            </a:r>
            <a:endParaRPr lang="en-US" sz="1000" dirty="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FBF6C6DD-8729-5C69-7BDA-C4CE53DB53F9}"/>
              </a:ext>
            </a:extLst>
          </p:cNvPr>
          <p:cNvSpPr/>
          <p:nvPr/>
        </p:nvSpPr>
        <p:spPr>
          <a:xfrm>
            <a:off x="1024128" y="2581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Solution :</a:t>
            </a:r>
            <a:endParaRPr lang="en-US" sz="900" dirty="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E7BD2444-CE7E-33B3-5002-C96BAC35C385}"/>
              </a:ext>
            </a:extLst>
          </p:cNvPr>
          <p:cNvSpPr/>
          <p:nvPr/>
        </p:nvSpPr>
        <p:spPr>
          <a:xfrm>
            <a:off x="2011680" y="2563368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</a:rPr>
              <a:t>Ajout d'une vérification d'état logique LOW actif + délai de 20 ms entre chaque itération de boucle pour stabiliser les lectures.</a:t>
            </a:r>
            <a:endParaRPr lang="en-US" sz="950" dirty="0"/>
          </a:p>
        </p:txBody>
      </p:sp>
      <p:sp>
        <p:nvSpPr>
          <p:cNvPr id="69" name="Shape 21">
            <a:extLst>
              <a:ext uri="{FF2B5EF4-FFF2-40B4-BE49-F238E27FC236}">
                <a16:creationId xmlns:a16="http://schemas.microsoft.com/office/drawing/2014/main" id="{80B7CA49-2C42-B879-F223-B051713BDC16}"/>
              </a:ext>
            </a:extLst>
          </p:cNvPr>
          <p:cNvSpPr/>
          <p:nvPr/>
        </p:nvSpPr>
        <p:spPr>
          <a:xfrm>
            <a:off x="411480" y="2993136"/>
            <a:ext cx="83210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7FD770C8-10F9-0A03-41AF-40EC3891A3EC}"/>
              </a:ext>
            </a:extLst>
          </p:cNvPr>
          <p:cNvSpPr/>
          <p:nvPr/>
        </p:nvSpPr>
        <p:spPr>
          <a:xfrm>
            <a:off x="411480" y="2993136"/>
            <a:ext cx="54864" cy="42062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4EFBA513-008E-E806-370E-4E8881B1BCE3}"/>
              </a:ext>
            </a:extLst>
          </p:cNvPr>
          <p:cNvSpPr/>
          <p:nvPr/>
        </p:nvSpPr>
        <p:spPr>
          <a:xfrm>
            <a:off x="411480" y="3413760"/>
            <a:ext cx="54864" cy="42062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2" name="Image 2" descr="preencoded.png">
            <a:extLst>
              <a:ext uri="{FF2B5EF4-FFF2-40B4-BE49-F238E27FC236}">
                <a16:creationId xmlns:a16="http://schemas.microsoft.com/office/drawing/2014/main" id="{D0B3D37D-C757-C7B6-1868-79B403EC9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76016"/>
            <a:ext cx="411480" cy="411480"/>
          </a:xfrm>
          <a:prstGeom prst="rect">
            <a:avLst/>
          </a:prstGeom>
        </p:spPr>
      </p:pic>
      <p:sp>
        <p:nvSpPr>
          <p:cNvPr id="73" name="Text 24">
            <a:extLst>
              <a:ext uri="{FF2B5EF4-FFF2-40B4-BE49-F238E27FC236}">
                <a16:creationId xmlns:a16="http://schemas.microsoft.com/office/drawing/2014/main" id="{52BFBF32-0497-98A2-4715-F1FA533EC693}"/>
              </a:ext>
            </a:extLst>
          </p:cNvPr>
          <p:cNvSpPr/>
          <p:nvPr/>
        </p:nvSpPr>
        <p:spPr>
          <a:xfrm>
            <a:off x="1024128" y="3038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B82DD9B5-079D-C673-4EA8-A655DE5A0D10}"/>
              </a:ext>
            </a:extLst>
          </p:cNvPr>
          <p:cNvSpPr/>
          <p:nvPr/>
        </p:nvSpPr>
        <p:spPr>
          <a:xfrm>
            <a:off x="2011680" y="30388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Blocage de la boucle pendant le balayage servo</a:t>
            </a:r>
            <a:endParaRPr lang="en-US" sz="1000" dirty="0"/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385CCE06-10BD-4317-67E8-F78E7A0CEED7}"/>
              </a:ext>
            </a:extLst>
          </p:cNvPr>
          <p:cNvSpPr/>
          <p:nvPr/>
        </p:nvSpPr>
        <p:spPr>
          <a:xfrm>
            <a:off x="1024128" y="3496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Solution :</a:t>
            </a:r>
            <a:endParaRPr lang="en-US" sz="9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FD6C6026-83F7-F6F9-839E-334719412C15}"/>
              </a:ext>
            </a:extLst>
          </p:cNvPr>
          <p:cNvSpPr/>
          <p:nvPr/>
        </p:nvSpPr>
        <p:spPr>
          <a:xfrm>
            <a:off x="2011680" y="3477768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</a:rPr>
              <a:t>Implémentation d'un break conditionnel dans la boucle sweepServo() : si FC redevient HIGH pendant le balayage, le sweep s'interrompt immédiatement.</a:t>
            </a:r>
            <a:endParaRPr lang="en-US" sz="950" dirty="0"/>
          </a:p>
        </p:txBody>
      </p:sp>
      <p:sp>
        <p:nvSpPr>
          <p:cNvPr id="77" name="Shape 28">
            <a:extLst>
              <a:ext uri="{FF2B5EF4-FFF2-40B4-BE49-F238E27FC236}">
                <a16:creationId xmlns:a16="http://schemas.microsoft.com/office/drawing/2014/main" id="{5BDD8B4F-1744-0964-FEEF-921945735E6E}"/>
              </a:ext>
            </a:extLst>
          </p:cNvPr>
          <p:cNvSpPr/>
          <p:nvPr/>
        </p:nvSpPr>
        <p:spPr>
          <a:xfrm>
            <a:off x="411480" y="3907536"/>
            <a:ext cx="83210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0B06D778-5C03-B263-B527-2485FB7C3A6A}"/>
              </a:ext>
            </a:extLst>
          </p:cNvPr>
          <p:cNvSpPr/>
          <p:nvPr/>
        </p:nvSpPr>
        <p:spPr>
          <a:xfrm>
            <a:off x="411480" y="3907536"/>
            <a:ext cx="54864" cy="42062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30">
            <a:extLst>
              <a:ext uri="{FF2B5EF4-FFF2-40B4-BE49-F238E27FC236}">
                <a16:creationId xmlns:a16="http://schemas.microsoft.com/office/drawing/2014/main" id="{74E0100A-ED28-DE06-D5FF-FA46487EC9B2}"/>
              </a:ext>
            </a:extLst>
          </p:cNvPr>
          <p:cNvSpPr/>
          <p:nvPr/>
        </p:nvSpPr>
        <p:spPr>
          <a:xfrm>
            <a:off x="411480" y="4328160"/>
            <a:ext cx="54864" cy="42062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0" name="Image 3" descr="preencoded.png">
            <a:extLst>
              <a:ext uri="{FF2B5EF4-FFF2-40B4-BE49-F238E27FC236}">
                <a16:creationId xmlns:a16="http://schemas.microsoft.com/office/drawing/2014/main" id="{AA6C5969-7AF7-3800-984C-86886D58D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090416"/>
            <a:ext cx="411480" cy="411480"/>
          </a:xfrm>
          <a:prstGeom prst="rect">
            <a:avLst/>
          </a:prstGeom>
        </p:spPr>
      </p:pic>
      <p:sp>
        <p:nvSpPr>
          <p:cNvPr id="81" name="Text 31">
            <a:extLst>
              <a:ext uri="{FF2B5EF4-FFF2-40B4-BE49-F238E27FC236}">
                <a16:creationId xmlns:a16="http://schemas.microsoft.com/office/drawing/2014/main" id="{B8C1D496-5086-33E2-B982-BB8F30E4667A}"/>
              </a:ext>
            </a:extLst>
          </p:cNvPr>
          <p:cNvSpPr/>
          <p:nvPr/>
        </p:nvSpPr>
        <p:spPr>
          <a:xfrm>
            <a:off x="1024128" y="3953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504DAF0A-239B-5122-8EA3-4175D0170460}"/>
              </a:ext>
            </a:extLst>
          </p:cNvPr>
          <p:cNvSpPr/>
          <p:nvPr/>
        </p:nvSpPr>
        <p:spPr>
          <a:xfrm>
            <a:off x="2011680" y="39532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</a:rPr>
              <a:t>Instabilité de la mesure ultrasonique</a:t>
            </a:r>
            <a:endParaRPr lang="en-US" sz="1000" dirty="0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621E23DC-EF24-B454-5D0D-20BB422B05B4}"/>
              </a:ext>
            </a:extLst>
          </p:cNvPr>
          <p:cNvSpPr/>
          <p:nvPr/>
        </p:nvSpPr>
        <p:spPr>
          <a:xfrm>
            <a:off x="1024128" y="44104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Solution :</a:t>
            </a:r>
            <a:endParaRPr lang="en-US" sz="900" dirty="0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AAD20CAF-33DD-7AF8-C514-46BB330D2F5F}"/>
              </a:ext>
            </a:extLst>
          </p:cNvPr>
          <p:cNvSpPr/>
          <p:nvPr/>
        </p:nvSpPr>
        <p:spPr>
          <a:xfrm>
            <a:off x="2011680" y="4392168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</a:rPr>
              <a:t>Ajout d'un timeout de 25 ms dans pulseIn() et retour de 999 cm si aucun écho reçu, évitant un blocage de 1 s dans la boucle.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82891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BF54-C200-5286-F90C-6F69CB1E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329C22-AE6B-1B62-3006-8AE5D1EFC16C}"/>
              </a:ext>
            </a:extLst>
          </p:cNvPr>
          <p:cNvSpPr/>
          <p:nvPr/>
        </p:nvSpPr>
        <p:spPr>
          <a:xfrm>
            <a:off x="-7503" y="10474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978D84B-BBC1-FED5-3223-E1048B7B30D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6EC45E5-E42A-351C-85A5-9097B4F03726}"/>
              </a:ext>
            </a:extLst>
          </p:cNvPr>
          <p:cNvSpPr/>
          <p:nvPr/>
        </p:nvSpPr>
        <p:spPr>
          <a:xfrm>
            <a:off x="365760" y="3657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 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1EBD18-5D4F-21ED-DB2D-C617B6AAE5D3}"/>
              </a:ext>
            </a:extLst>
          </p:cNvPr>
          <p:cNvSpPr txBox="1"/>
          <p:nvPr/>
        </p:nvSpPr>
        <p:spPr>
          <a:xfrm>
            <a:off x="2194560" y="6684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B30A6A1-58C2-012D-039B-EDEB2719E66F}"/>
              </a:ext>
            </a:extLst>
          </p:cNvPr>
          <p:cNvSpPr/>
          <p:nvPr/>
        </p:nvSpPr>
        <p:spPr>
          <a:xfrm>
            <a:off x="411480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5844D27-96C6-F7B1-1BD2-B6C302F8CE97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4EEFA50-B8C2-AEA1-D2B3-046A15F825C0}"/>
              </a:ext>
            </a:extLst>
          </p:cNvPr>
          <p:cNvSpPr/>
          <p:nvPr/>
        </p:nvSpPr>
        <p:spPr>
          <a:xfrm>
            <a:off x="411480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547AD52-B617-3861-7836-96E08194ADD4}"/>
              </a:ext>
            </a:extLst>
          </p:cNvPr>
          <p:cNvSpPr/>
          <p:nvPr/>
        </p:nvSpPr>
        <p:spPr>
          <a:xfrm>
            <a:off x="1033272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01A1397-7AD3-A849-3455-92C9882F2E01}"/>
              </a:ext>
            </a:extLst>
          </p:cNvPr>
          <p:cNvSpPr/>
          <p:nvPr/>
        </p:nvSpPr>
        <p:spPr>
          <a:xfrm>
            <a:off x="1033272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motivation, objectifs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D1936E6-B87B-CBD5-C3B7-D11F06762DDD}"/>
              </a:ext>
            </a:extLst>
          </p:cNvPr>
          <p:cNvSpPr/>
          <p:nvPr/>
        </p:nvSpPr>
        <p:spPr>
          <a:xfrm>
            <a:off x="4690872" y="1298448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5B06D3F-F6D9-B8C2-BF3E-9554C1509CE2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271FC638-53E9-36F4-630F-C8B6A9920697}"/>
              </a:ext>
            </a:extLst>
          </p:cNvPr>
          <p:cNvSpPr/>
          <p:nvPr/>
        </p:nvSpPr>
        <p:spPr>
          <a:xfrm>
            <a:off x="4690872" y="1298448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4FF5BD5-8CF7-0B67-6D9C-059C3ECB5219}"/>
              </a:ext>
            </a:extLst>
          </p:cNvPr>
          <p:cNvSpPr/>
          <p:nvPr/>
        </p:nvSpPr>
        <p:spPr>
          <a:xfrm>
            <a:off x="5312664" y="137160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8F2E4D4-0C22-DBBA-6A0F-F375D547331E}"/>
              </a:ext>
            </a:extLst>
          </p:cNvPr>
          <p:cNvSpPr/>
          <p:nvPr/>
        </p:nvSpPr>
        <p:spPr>
          <a:xfrm>
            <a:off x="5312664" y="171907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fonctionnelles et techniques</a:t>
            </a:r>
            <a:endParaRPr lang="en-US" sz="10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17BCDB0-D9F4-14F9-C469-0468EC1F82F5}"/>
              </a:ext>
            </a:extLst>
          </p:cNvPr>
          <p:cNvSpPr/>
          <p:nvPr/>
        </p:nvSpPr>
        <p:spPr>
          <a:xfrm>
            <a:off x="411480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BF1A08A-88B4-18E6-F973-DD1C5D165F8A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851D5E26-7EC9-7190-244A-C59B46A8BBD6}"/>
              </a:ext>
            </a:extLst>
          </p:cNvPr>
          <p:cNvSpPr/>
          <p:nvPr/>
        </p:nvSpPr>
        <p:spPr>
          <a:xfrm>
            <a:off x="411480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905FF55-32CE-C1B1-4931-4BF6B5811E5E}"/>
              </a:ext>
            </a:extLst>
          </p:cNvPr>
          <p:cNvSpPr/>
          <p:nvPr/>
        </p:nvSpPr>
        <p:spPr>
          <a:xfrm>
            <a:off x="1033272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0B6CB297-74A4-0237-3019-66C94592766A}"/>
              </a:ext>
            </a:extLst>
          </p:cNvPr>
          <p:cNvSpPr/>
          <p:nvPr/>
        </p:nvSpPr>
        <p:spPr>
          <a:xfrm>
            <a:off x="1033272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schéma de connexion</a:t>
            </a:r>
            <a:endParaRPr lang="en-US" sz="1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B212BEA-7243-975B-BB85-233383693A36}"/>
              </a:ext>
            </a:extLst>
          </p:cNvPr>
          <p:cNvSpPr/>
          <p:nvPr/>
        </p:nvSpPr>
        <p:spPr>
          <a:xfrm>
            <a:off x="4690872" y="2194560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FF601CE6-9653-F531-BCAA-BC07F83AD0AD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121914F4-6B97-BD47-A1FE-731FC34DDF5A}"/>
              </a:ext>
            </a:extLst>
          </p:cNvPr>
          <p:cNvSpPr/>
          <p:nvPr/>
        </p:nvSpPr>
        <p:spPr>
          <a:xfrm>
            <a:off x="4690872" y="2194560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C700D453-79C9-B463-63FE-20283849AD2A}"/>
              </a:ext>
            </a:extLst>
          </p:cNvPr>
          <p:cNvSpPr/>
          <p:nvPr/>
        </p:nvSpPr>
        <p:spPr>
          <a:xfrm>
            <a:off x="5312664" y="2267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37131602-6A55-3FEE-A406-9E4BA596A53E}"/>
              </a:ext>
            </a:extLst>
          </p:cNvPr>
          <p:cNvSpPr/>
          <p:nvPr/>
        </p:nvSpPr>
        <p:spPr>
          <a:xfrm>
            <a:off x="5312664" y="2615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flux, algorithme principal</a:t>
            </a:r>
            <a:endParaRPr lang="en-US" sz="10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B3EFE8CE-8EB9-92C2-BC3D-95F23602E908}"/>
              </a:ext>
            </a:extLst>
          </p:cNvPr>
          <p:cNvSpPr/>
          <p:nvPr/>
        </p:nvSpPr>
        <p:spPr>
          <a:xfrm>
            <a:off x="429768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79F7626D-0396-C894-B451-D0F22BF27071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25FEC300-598E-F7BD-ADAF-0468D1C17763}"/>
              </a:ext>
            </a:extLst>
          </p:cNvPr>
          <p:cNvSpPr/>
          <p:nvPr/>
        </p:nvSpPr>
        <p:spPr>
          <a:xfrm>
            <a:off x="411480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049343A-1D85-84C7-E547-A1705E437BC5}"/>
              </a:ext>
            </a:extLst>
          </p:cNvPr>
          <p:cNvSpPr/>
          <p:nvPr/>
        </p:nvSpPr>
        <p:spPr>
          <a:xfrm>
            <a:off x="1033272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Arduino / ESP32</a:t>
            </a:r>
            <a:endParaRPr lang="en-US" sz="13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2D2B3972-D942-BD5E-3C44-3685CF971EA6}"/>
              </a:ext>
            </a:extLst>
          </p:cNvPr>
          <p:cNvSpPr/>
          <p:nvPr/>
        </p:nvSpPr>
        <p:spPr>
          <a:xfrm>
            <a:off x="1033272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bibliothèques utilisées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4FC23306-E00D-B43D-7306-BA278B1327D8}"/>
              </a:ext>
            </a:extLst>
          </p:cNvPr>
          <p:cNvSpPr/>
          <p:nvPr/>
        </p:nvSpPr>
        <p:spPr>
          <a:xfrm>
            <a:off x="4690872" y="3090672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BED25860-A73A-78A1-EA4D-93458C541AF1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2FF14988-3A94-E9E2-B2A6-86114BB3C963}"/>
              </a:ext>
            </a:extLst>
          </p:cNvPr>
          <p:cNvSpPr/>
          <p:nvPr/>
        </p:nvSpPr>
        <p:spPr>
          <a:xfrm>
            <a:off x="4690872" y="3090672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07277E10-D44F-1EEE-924F-8AA0EFFEA5A0}"/>
              </a:ext>
            </a:extLst>
          </p:cNvPr>
          <p:cNvSpPr/>
          <p:nvPr/>
        </p:nvSpPr>
        <p:spPr>
          <a:xfrm>
            <a:off x="5312664" y="31638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CF782A25-5D36-96A1-E9D7-B2ADA23D2226}"/>
              </a:ext>
            </a:extLst>
          </p:cNvPr>
          <p:cNvSpPr/>
          <p:nvPr/>
        </p:nvSpPr>
        <p:spPr>
          <a:xfrm>
            <a:off x="5312664" y="35112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expérimentaux, mesures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605DA121-040A-EABC-093E-884ACC74E7F4}"/>
              </a:ext>
            </a:extLst>
          </p:cNvPr>
          <p:cNvSpPr/>
          <p:nvPr/>
        </p:nvSpPr>
        <p:spPr>
          <a:xfrm>
            <a:off x="411480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E6A14AEC-93C5-2749-A3C5-67472824C80A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077349C2-3554-0F0D-A411-1EE8CC47DBBD}"/>
              </a:ext>
            </a:extLst>
          </p:cNvPr>
          <p:cNvSpPr/>
          <p:nvPr/>
        </p:nvSpPr>
        <p:spPr>
          <a:xfrm>
            <a:off x="411480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38B44252-4674-6CF6-90FB-161DFB43637F}"/>
              </a:ext>
            </a:extLst>
          </p:cNvPr>
          <p:cNvSpPr/>
          <p:nvPr/>
        </p:nvSpPr>
        <p:spPr>
          <a:xfrm>
            <a:off x="1033272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89BDA2B2-B86F-11FE-66C1-9C2EBECB852B}"/>
              </a:ext>
            </a:extLst>
          </p:cNvPr>
          <p:cNvSpPr/>
          <p:nvPr/>
        </p:nvSpPr>
        <p:spPr>
          <a:xfrm>
            <a:off x="1033272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rencontrés et approches</a:t>
            </a:r>
            <a:endParaRPr lang="en-US" sz="10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E2F15231-53D6-BC69-D5B3-4FA627557624}"/>
              </a:ext>
            </a:extLst>
          </p:cNvPr>
          <p:cNvSpPr/>
          <p:nvPr/>
        </p:nvSpPr>
        <p:spPr>
          <a:xfrm>
            <a:off x="4690872" y="3986784"/>
            <a:ext cx="402336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8322D17D-59B4-10CF-B24C-3410AF19C6DD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25D5756A-B8C6-9742-C94B-1617FF2E7F97}"/>
              </a:ext>
            </a:extLst>
          </p:cNvPr>
          <p:cNvSpPr/>
          <p:nvPr/>
        </p:nvSpPr>
        <p:spPr>
          <a:xfrm>
            <a:off x="4690872" y="3986784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CFF0079E-E5A9-6093-7B68-EDBA02D24856}"/>
              </a:ext>
            </a:extLst>
          </p:cNvPr>
          <p:cNvSpPr/>
          <p:nvPr/>
        </p:nvSpPr>
        <p:spPr>
          <a:xfrm>
            <a:off x="5312664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27471408-D773-CD37-4BC5-B2EF0A0B2BA0}"/>
              </a:ext>
            </a:extLst>
          </p:cNvPr>
          <p:cNvSpPr/>
          <p:nvPr/>
        </p:nvSpPr>
        <p:spPr>
          <a:xfrm>
            <a:off x="5312664" y="440740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CF7F949F-EE25-CD06-CAF6-9274EE600F46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F5880D7E-D010-7DBC-8139-3556718B1686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3EDEAF66-CDDA-A9F9-6A09-6675E8EEDA6C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0D4BF2E4-1CB7-BF93-7756-5FAE28C9B4A5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34840" y="1673352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91BFFBC-FD16-770B-B526-2A1EF1265A39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434840" y="2569464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E7A0ADF8-0122-BA20-88F9-A1DDB8D1A5A0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453128" y="3465576"/>
            <a:ext cx="23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E4818EBA-EFE4-CA67-9F04-AE00306277D2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4434840" y="4361688"/>
            <a:ext cx="2560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FDD08931-C6E6-7550-7532-4317553410E0}"/>
              </a:ext>
            </a:extLst>
          </p:cNvPr>
          <p:cNvCxnSpPr>
            <a:cxnSpLocks/>
          </p:cNvCxnSpPr>
          <p:nvPr/>
        </p:nvCxnSpPr>
        <p:spPr>
          <a:xfrm flipH="1">
            <a:off x="4443984" y="2910411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52FDD9B5-5B0C-E5DE-185F-26D41B5147F0}"/>
              </a:ext>
            </a:extLst>
          </p:cNvPr>
          <p:cNvCxnSpPr>
            <a:cxnSpLocks/>
          </p:cNvCxnSpPr>
          <p:nvPr/>
        </p:nvCxnSpPr>
        <p:spPr>
          <a:xfrm flipH="1">
            <a:off x="4425696" y="382735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4813E49C-F375-99F7-C67C-1F4F7B1A8B19}"/>
              </a:ext>
            </a:extLst>
          </p:cNvPr>
          <p:cNvCxnSpPr>
            <a:cxnSpLocks/>
          </p:cNvCxnSpPr>
          <p:nvPr/>
        </p:nvCxnSpPr>
        <p:spPr>
          <a:xfrm flipH="1">
            <a:off x="4425696" y="2031260"/>
            <a:ext cx="265176" cy="175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F50518FA-78AD-D28A-7E6B-46AA4B24BC05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479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F583-B904-F9C2-5DDA-F09271B7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9FB907AA-B256-873B-BD93-003F7C762DDC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35373125-C048-5031-877E-AB832267FD2D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799E7550-238C-240D-AE5F-64DC9D161376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2001CBE2-57F9-D0C5-AE04-88631EA5D32F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E0045ECE-7E64-CE42-D32F-D7C7C785B26C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A2A68099-6A09-E333-50ED-339530C8DD09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679E9AB-F4A7-37E2-8D9D-D928948F5E53}"/>
              </a:ext>
            </a:extLst>
          </p:cNvPr>
          <p:cNvSpPr/>
          <p:nvPr/>
        </p:nvSpPr>
        <p:spPr>
          <a:xfrm>
            <a:off x="-15008" y="502918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BC97B127-8FEE-C121-3ECE-5949B0E0AD3C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997C66F-DB53-8F91-724C-424B763FC257}"/>
              </a:ext>
            </a:extLst>
          </p:cNvPr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</a:t>
            </a:r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2600" dirty="0">
              <a:solidFill>
                <a:srgbClr val="FB8C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6D6FCD-1B12-5E38-E863-009B89EC8C98}"/>
              </a:ext>
            </a:extLst>
          </p:cNvPr>
          <p:cNvSpPr txBox="1"/>
          <p:nvPr/>
        </p:nvSpPr>
        <p:spPr>
          <a:xfrm>
            <a:off x="860839" y="1790437"/>
            <a:ext cx="4659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</a:t>
            </a:r>
            <a:r>
              <a:rPr lang="en-US" sz="1800" b="1" dirty="0" err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avons</a:t>
            </a: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DB3F0C-E8C4-CD33-7706-0D50164D5EA5}"/>
              </a:ext>
            </a:extLst>
          </p:cNvPr>
          <p:cNvSpPr/>
          <p:nvPr/>
        </p:nvSpPr>
        <p:spPr>
          <a:xfrm>
            <a:off x="307086" y="1408176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 robot autonome complet sur ESP32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multi-directionnelle du feu (5 capteurs IR)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intelligente avec évitement d'obstacles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d'extinction par pompe + servo balayage 160°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temps réel température et humidité (DHT22/LCD)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modulaire et documenté avec 9 fonctions dédiées</a:t>
            </a:r>
            <a:endParaRPr lang="en-US" sz="11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des tests fonctionnels validés avec succès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5C582E-17D3-C890-6FB6-881AF5A93FA8}"/>
              </a:ext>
            </a:extLst>
          </p:cNvPr>
          <p:cNvSpPr/>
          <p:nvPr/>
        </p:nvSpPr>
        <p:spPr>
          <a:xfrm>
            <a:off x="557784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0FD6CAB-546A-1F86-D593-2E5A75B01191}"/>
              </a:ext>
            </a:extLst>
          </p:cNvPr>
          <p:cNvSpPr/>
          <p:nvPr/>
        </p:nvSpPr>
        <p:spPr>
          <a:xfrm>
            <a:off x="557784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ESP32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1E90EE0-77FD-FA96-E97A-A24A202C2097}"/>
              </a:ext>
            </a:extLst>
          </p:cNvPr>
          <p:cNvSpPr/>
          <p:nvPr/>
        </p:nvSpPr>
        <p:spPr>
          <a:xfrm>
            <a:off x="5577840" y="1911096"/>
            <a:ext cx="3200400" cy="182880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5ACF0E0-6ED6-11AF-893E-AAB4E11D1CA1}"/>
              </a:ext>
            </a:extLst>
          </p:cNvPr>
          <p:cNvSpPr/>
          <p:nvPr/>
        </p:nvSpPr>
        <p:spPr>
          <a:xfrm>
            <a:off x="5577840" y="1911096"/>
            <a:ext cx="288036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27C540D-628C-E18B-CDF4-E40A15D57C79}"/>
              </a:ext>
            </a:extLst>
          </p:cNvPr>
          <p:cNvSpPr/>
          <p:nvPr/>
        </p:nvSpPr>
        <p:spPr>
          <a:xfrm>
            <a:off x="5577840" y="22037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 embarquée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53E0E0C-FEBE-53C9-DC27-2505C11040F9}"/>
              </a:ext>
            </a:extLst>
          </p:cNvPr>
          <p:cNvSpPr/>
          <p:nvPr/>
        </p:nvSpPr>
        <p:spPr>
          <a:xfrm>
            <a:off x="5577840" y="2423160"/>
            <a:ext cx="3200400" cy="182880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F424E8B-2D10-D944-4769-F20CC341D44D}"/>
              </a:ext>
            </a:extLst>
          </p:cNvPr>
          <p:cNvSpPr/>
          <p:nvPr/>
        </p:nvSpPr>
        <p:spPr>
          <a:xfrm>
            <a:off x="5577840" y="2423160"/>
            <a:ext cx="272034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124E7B0-E2BF-9554-8BA4-1D194E30F8AF}"/>
              </a:ext>
            </a:extLst>
          </p:cNvPr>
          <p:cNvSpPr/>
          <p:nvPr/>
        </p:nvSpPr>
        <p:spPr>
          <a:xfrm>
            <a:off x="5577840" y="2715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capteurs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7B6583B-38F6-F7E2-553F-8B7D04212F8C}"/>
              </a:ext>
            </a:extLst>
          </p:cNvPr>
          <p:cNvSpPr/>
          <p:nvPr/>
        </p:nvSpPr>
        <p:spPr>
          <a:xfrm>
            <a:off x="5577840" y="2935224"/>
            <a:ext cx="3200400" cy="182880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2860796-A927-1198-72BB-947F4E97D936}"/>
              </a:ext>
            </a:extLst>
          </p:cNvPr>
          <p:cNvSpPr/>
          <p:nvPr/>
        </p:nvSpPr>
        <p:spPr>
          <a:xfrm>
            <a:off x="5577840" y="2935224"/>
            <a:ext cx="2560320" cy="1828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853A545-9B9C-B297-C03D-EF6F97C2BF3E}"/>
              </a:ext>
            </a:extLst>
          </p:cNvPr>
          <p:cNvSpPr/>
          <p:nvPr/>
        </p:nvSpPr>
        <p:spPr>
          <a:xfrm>
            <a:off x="5577840" y="32278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moteurs PWM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B2DD8614-14AA-F942-693E-D7852D71FE3D}"/>
              </a:ext>
            </a:extLst>
          </p:cNvPr>
          <p:cNvSpPr/>
          <p:nvPr/>
        </p:nvSpPr>
        <p:spPr>
          <a:xfrm>
            <a:off x="5577840" y="3447288"/>
            <a:ext cx="3200400" cy="182880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3144CC68-026D-06A7-1C4E-C53211354AAC}"/>
              </a:ext>
            </a:extLst>
          </p:cNvPr>
          <p:cNvSpPr/>
          <p:nvPr/>
        </p:nvSpPr>
        <p:spPr>
          <a:xfrm>
            <a:off x="5577840" y="3447288"/>
            <a:ext cx="2816352" cy="18288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654FC451-8CA6-4207-40DE-05CFD8F9DFC1}"/>
              </a:ext>
            </a:extLst>
          </p:cNvPr>
          <p:cNvSpPr/>
          <p:nvPr/>
        </p:nvSpPr>
        <p:spPr>
          <a:xfrm>
            <a:off x="5577840" y="3739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15A88224-0AD9-47D1-EC27-59FD5698A294}"/>
              </a:ext>
            </a:extLst>
          </p:cNvPr>
          <p:cNvSpPr/>
          <p:nvPr/>
        </p:nvSpPr>
        <p:spPr>
          <a:xfrm>
            <a:off x="5577840" y="3959352"/>
            <a:ext cx="3200400" cy="182880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81AB1F6-76E1-B265-8E0A-3B5DB65CC577}"/>
              </a:ext>
            </a:extLst>
          </p:cNvPr>
          <p:cNvSpPr/>
          <p:nvPr/>
        </p:nvSpPr>
        <p:spPr>
          <a:xfrm>
            <a:off x="5577840" y="3959352"/>
            <a:ext cx="2944368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44">
            <a:extLst>
              <a:ext uri="{FF2B5EF4-FFF2-40B4-BE49-F238E27FC236}">
                <a16:creationId xmlns:a16="http://schemas.microsoft.com/office/drawing/2014/main" id="{29E408CF-83EB-C357-B8A3-672B96667C8A}"/>
              </a:ext>
            </a:extLst>
          </p:cNvPr>
          <p:cNvSpPr/>
          <p:nvPr/>
        </p:nvSpPr>
        <p:spPr>
          <a:xfrm>
            <a:off x="330487" y="-130303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4" name="Text 45">
            <a:extLst>
              <a:ext uri="{FF2B5EF4-FFF2-40B4-BE49-F238E27FC236}">
                <a16:creationId xmlns:a16="http://schemas.microsoft.com/office/drawing/2014/main" id="{C8C93D8B-37CB-F7C2-E637-4E03F8C9D1A1}"/>
              </a:ext>
            </a:extLst>
          </p:cNvPr>
          <p:cNvSpPr/>
          <p:nvPr/>
        </p:nvSpPr>
        <p:spPr>
          <a:xfrm>
            <a:off x="1407469" y="-39621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35" name="Text 46">
            <a:extLst>
              <a:ext uri="{FF2B5EF4-FFF2-40B4-BE49-F238E27FC236}">
                <a16:creationId xmlns:a16="http://schemas.microsoft.com/office/drawing/2014/main" id="{BC5F0759-97FF-A008-5910-2F3564BDC726}"/>
              </a:ext>
            </a:extLst>
          </p:cNvPr>
          <p:cNvSpPr/>
          <p:nvPr/>
        </p:nvSpPr>
        <p:spPr>
          <a:xfrm>
            <a:off x="1407469" y="233169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44127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597D1-274E-6217-EAB8-7B8FA27A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BBC1E524-187A-61E8-5257-9FAD28B5CE90}"/>
              </a:ext>
            </a:extLst>
          </p:cNvPr>
          <p:cNvGrpSpPr/>
          <p:nvPr/>
        </p:nvGrpSpPr>
        <p:grpSpPr>
          <a:xfrm>
            <a:off x="-7504" y="-13716"/>
            <a:ext cx="9151504" cy="516635"/>
            <a:chOff x="-7504" y="5236"/>
            <a:chExt cx="9151504" cy="49768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C9039C85-B5BF-9800-4BD2-F030DB644593}"/>
                </a:ext>
              </a:extLst>
            </p:cNvPr>
            <p:cNvSpPr/>
            <p:nvPr/>
          </p:nvSpPr>
          <p:spPr>
            <a:xfrm>
              <a:off x="-7504" y="5236"/>
              <a:ext cx="9151504" cy="4976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E3EAF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1D238518-07F9-B720-FDA7-B67C33F969D0}"/>
                </a:ext>
              </a:extLst>
            </p:cNvPr>
            <p:cNvSpPr/>
            <p:nvPr/>
          </p:nvSpPr>
          <p:spPr>
            <a:xfrm>
              <a:off x="-7504" y="5236"/>
              <a:ext cx="1206335" cy="497683"/>
            </a:xfrm>
            <a:prstGeom prst="rect">
              <a:avLst/>
            </a:prstGeom>
            <a:solidFill>
              <a:srgbClr val="0D1B2A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Shape 3">
            <a:extLst>
              <a:ext uri="{FF2B5EF4-FFF2-40B4-BE49-F238E27FC236}">
                <a16:creationId xmlns:a16="http://schemas.microsoft.com/office/drawing/2014/main" id="{15E7081C-109B-EEE3-2FBF-C5394801E715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ED9288CD-7A59-2E07-D0AE-60B1DA01C84E}"/>
              </a:ext>
            </a:extLst>
          </p:cNvPr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DA989799-8DDE-8E81-407F-44E1987CFCDB}"/>
              </a:ext>
            </a:extLst>
          </p:cNvPr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30B8AE2-2B8A-95CD-8D4E-3F5F0B738CA7}"/>
              </a:ext>
            </a:extLst>
          </p:cNvPr>
          <p:cNvSpPr/>
          <p:nvPr/>
        </p:nvSpPr>
        <p:spPr>
          <a:xfrm>
            <a:off x="-7504" y="505205"/>
            <a:ext cx="9159008" cy="4439413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85F89BBB-5326-6CB0-C0F4-C1C4E9249173}"/>
              </a:ext>
            </a:extLst>
          </p:cNvPr>
          <p:cNvSpPr/>
          <p:nvPr/>
        </p:nvSpPr>
        <p:spPr>
          <a:xfrm>
            <a:off x="13716" y="516634"/>
            <a:ext cx="45719" cy="4448557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61658FE-4A0A-A7CD-D327-5642143698D6}"/>
              </a:ext>
            </a:extLst>
          </p:cNvPr>
          <p:cNvSpPr/>
          <p:nvPr/>
        </p:nvSpPr>
        <p:spPr>
          <a:xfrm>
            <a:off x="435643" y="42062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 err="1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r>
              <a:rPr lang="en-US" sz="2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Perspectives Futures</a:t>
            </a:r>
            <a:endParaRPr lang="en-US" sz="2600" dirty="0">
              <a:solidFill>
                <a:srgbClr val="FB8C00"/>
              </a:solidFill>
            </a:endParaRPr>
          </a:p>
        </p:txBody>
      </p:sp>
      <p:sp>
        <p:nvSpPr>
          <p:cNvPr id="33" name="Text 44">
            <a:extLst>
              <a:ext uri="{FF2B5EF4-FFF2-40B4-BE49-F238E27FC236}">
                <a16:creationId xmlns:a16="http://schemas.microsoft.com/office/drawing/2014/main" id="{8C1EC651-7E73-A71F-B7ED-3619A75A1D4B}"/>
              </a:ext>
            </a:extLst>
          </p:cNvPr>
          <p:cNvSpPr/>
          <p:nvPr/>
        </p:nvSpPr>
        <p:spPr>
          <a:xfrm>
            <a:off x="330487" y="-130303"/>
            <a:ext cx="530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4" name="Text 45">
            <a:extLst>
              <a:ext uri="{FF2B5EF4-FFF2-40B4-BE49-F238E27FC236}">
                <a16:creationId xmlns:a16="http://schemas.microsoft.com/office/drawing/2014/main" id="{D3F34483-25BC-64EA-7721-98470EAA00E1}"/>
              </a:ext>
            </a:extLst>
          </p:cNvPr>
          <p:cNvSpPr/>
          <p:nvPr/>
        </p:nvSpPr>
        <p:spPr>
          <a:xfrm>
            <a:off x="1407469" y="-39621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35" name="Text 46">
            <a:extLst>
              <a:ext uri="{FF2B5EF4-FFF2-40B4-BE49-F238E27FC236}">
                <a16:creationId xmlns:a16="http://schemas.microsoft.com/office/drawing/2014/main" id="{1E55C64B-4B24-8875-71ED-0DBAF659E57A}"/>
              </a:ext>
            </a:extLst>
          </p:cNvPr>
          <p:cNvSpPr/>
          <p:nvPr/>
        </p:nvSpPr>
        <p:spPr>
          <a:xfrm>
            <a:off x="1407469" y="233169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améliorations futures</a:t>
            </a:r>
            <a:endParaRPr lang="en-US" sz="10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0496436C-293E-8242-701D-1639A192FF7A}"/>
              </a:ext>
            </a:extLst>
          </p:cNvPr>
          <p:cNvSpPr/>
          <p:nvPr/>
        </p:nvSpPr>
        <p:spPr>
          <a:xfrm>
            <a:off x="467647" y="1056132"/>
            <a:ext cx="26334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CED13801-1F8D-6A0E-670A-BA34A940AE4B}"/>
              </a:ext>
            </a:extLst>
          </p:cNvPr>
          <p:cNvSpPr/>
          <p:nvPr/>
        </p:nvSpPr>
        <p:spPr>
          <a:xfrm>
            <a:off x="467647" y="1056132"/>
            <a:ext cx="2633472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A9C163A7-B73C-37E2-96B6-FFEDA9918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5" y="1147572"/>
            <a:ext cx="274320" cy="27432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1F313CA-0831-9CF0-2115-3630A45D1C92}"/>
              </a:ext>
            </a:extLst>
          </p:cNvPr>
          <p:cNvSpPr/>
          <p:nvPr/>
        </p:nvSpPr>
        <p:spPr>
          <a:xfrm>
            <a:off x="924847" y="112928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Wi-Fi / IoT</a:t>
            </a:r>
            <a:endParaRPr lang="en-US" sz="105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ADC9B96-CB94-16A1-6DB6-3DDA67B84545}"/>
              </a:ext>
            </a:extLst>
          </p:cNvPr>
          <p:cNvSpPr/>
          <p:nvPr/>
        </p:nvSpPr>
        <p:spPr>
          <a:xfrm>
            <a:off x="577375" y="1568196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 Wi-Fi intégré de l'ESP32 pour envoyer des alertes en temps réel (e-mail, SMS, application mobile) lors de la détection d'un incendie.</a:t>
            </a:r>
            <a:endParaRPr lang="en-US" sz="950" dirty="0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82A1A332-FC75-3A8A-4614-0645DC8D841D}"/>
              </a:ext>
            </a:extLst>
          </p:cNvPr>
          <p:cNvSpPr/>
          <p:nvPr/>
        </p:nvSpPr>
        <p:spPr>
          <a:xfrm>
            <a:off x="3265711" y="1056132"/>
            <a:ext cx="26334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71874E12-071D-73CD-E82C-C69257875C5F}"/>
              </a:ext>
            </a:extLst>
          </p:cNvPr>
          <p:cNvSpPr/>
          <p:nvPr/>
        </p:nvSpPr>
        <p:spPr>
          <a:xfrm>
            <a:off x="3265711" y="1056132"/>
            <a:ext cx="2633472" cy="45720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AC102192-A779-8D17-E1FF-FF0A2C40D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439" y="1147572"/>
            <a:ext cx="274320" cy="274320"/>
          </a:xfrm>
          <a:prstGeom prst="rect">
            <a:avLst/>
          </a:prstGeom>
        </p:spPr>
      </p:pic>
      <p:sp>
        <p:nvSpPr>
          <p:cNvPr id="37" name="Text 13">
            <a:extLst>
              <a:ext uri="{FF2B5EF4-FFF2-40B4-BE49-F238E27FC236}">
                <a16:creationId xmlns:a16="http://schemas.microsoft.com/office/drawing/2014/main" id="{2F0BEDED-12D0-E113-C37C-D7BC7B58751F}"/>
              </a:ext>
            </a:extLst>
          </p:cNvPr>
          <p:cNvSpPr/>
          <p:nvPr/>
        </p:nvSpPr>
        <p:spPr>
          <a:xfrm>
            <a:off x="3722911" y="112928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Caméra + IA</a:t>
            </a:r>
            <a:endParaRPr lang="en-US" sz="105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506B6D92-69DE-B611-7A1D-8655FFC6AFE6}"/>
              </a:ext>
            </a:extLst>
          </p:cNvPr>
          <p:cNvSpPr/>
          <p:nvPr/>
        </p:nvSpPr>
        <p:spPr>
          <a:xfrm>
            <a:off x="3375439" y="1568196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une caméra OV2640 et un modèle de deep learning (TensorFlow Lite) pour une détection visuelle plus précise et la localisation de la source.</a:t>
            </a:r>
            <a:endParaRPr lang="en-US" sz="9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A1B00BEE-1CC1-937F-8A56-1C7A69FFB0D2}"/>
              </a:ext>
            </a:extLst>
          </p:cNvPr>
          <p:cNvSpPr/>
          <p:nvPr/>
        </p:nvSpPr>
        <p:spPr>
          <a:xfrm>
            <a:off x="6063775" y="1056132"/>
            <a:ext cx="26334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DEFB7AD4-DA49-B1AF-5FA8-1AA5AD12DF1A}"/>
              </a:ext>
            </a:extLst>
          </p:cNvPr>
          <p:cNvSpPr/>
          <p:nvPr/>
        </p:nvSpPr>
        <p:spPr>
          <a:xfrm>
            <a:off x="6063775" y="1056132"/>
            <a:ext cx="2633472" cy="4572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87FF0C31-55F2-65D8-D2F2-DDCFAECB6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503" y="1147572"/>
            <a:ext cx="274320" cy="274320"/>
          </a:xfrm>
          <a:prstGeom prst="rect">
            <a:avLst/>
          </a:prstGeom>
        </p:spPr>
      </p:pic>
      <p:sp>
        <p:nvSpPr>
          <p:cNvPr id="42" name="Text 17">
            <a:extLst>
              <a:ext uri="{FF2B5EF4-FFF2-40B4-BE49-F238E27FC236}">
                <a16:creationId xmlns:a16="http://schemas.microsoft.com/office/drawing/2014/main" id="{D4BF0D80-1377-9833-4EC2-17471393F98E}"/>
              </a:ext>
            </a:extLst>
          </p:cNvPr>
          <p:cNvSpPr/>
          <p:nvPr/>
        </p:nvSpPr>
        <p:spPr>
          <a:xfrm>
            <a:off x="6520975" y="112928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 l'Environnement</a:t>
            </a:r>
            <a:endParaRPr lang="en-US" sz="105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E4C3C909-76DA-1E07-89C3-84D73E82C66B}"/>
              </a:ext>
            </a:extLst>
          </p:cNvPr>
          <p:cNvSpPr/>
          <p:nvPr/>
        </p:nvSpPr>
        <p:spPr>
          <a:xfrm>
            <a:off x="6173503" y="1568196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capteur LiDAR ou une caméra stéréo pour construire une carte 2D de l'espace et planifier des trajectoires optimales vers le feu.</a:t>
            </a:r>
            <a:endParaRPr lang="en-US" sz="95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9EABE083-ED55-9306-79F5-B550D47C575F}"/>
              </a:ext>
            </a:extLst>
          </p:cNvPr>
          <p:cNvSpPr/>
          <p:nvPr/>
        </p:nvSpPr>
        <p:spPr>
          <a:xfrm>
            <a:off x="467647" y="3067812"/>
            <a:ext cx="26334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813E3962-B7D7-2A23-3513-D1936B342937}"/>
              </a:ext>
            </a:extLst>
          </p:cNvPr>
          <p:cNvSpPr/>
          <p:nvPr/>
        </p:nvSpPr>
        <p:spPr>
          <a:xfrm>
            <a:off x="467647" y="3067812"/>
            <a:ext cx="2633472" cy="4572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64469EF7-1D97-D8D2-3BAD-9F1471C18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3159252"/>
            <a:ext cx="274320" cy="274320"/>
          </a:xfrm>
          <a:prstGeom prst="rect">
            <a:avLst/>
          </a:prstGeom>
        </p:spPr>
      </p:pic>
      <p:sp>
        <p:nvSpPr>
          <p:cNvPr id="49" name="Text 21">
            <a:extLst>
              <a:ext uri="{FF2B5EF4-FFF2-40B4-BE49-F238E27FC236}">
                <a16:creationId xmlns:a16="http://schemas.microsoft.com/office/drawing/2014/main" id="{B18DC276-70F6-A00D-0901-64A3087E8656}"/>
              </a:ext>
            </a:extLst>
          </p:cNvPr>
          <p:cNvSpPr/>
          <p:nvPr/>
        </p:nvSpPr>
        <p:spPr>
          <a:xfrm>
            <a:off x="924847" y="31409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Thermique</a:t>
            </a:r>
            <a:endParaRPr lang="en-US" sz="105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6A1B4DBD-1486-B398-0A4B-FE5CC88E21A9}"/>
              </a:ext>
            </a:extLst>
          </p:cNvPr>
          <p:cNvSpPr/>
          <p:nvPr/>
        </p:nvSpPr>
        <p:spPr>
          <a:xfrm>
            <a:off x="577375" y="3579876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boîtier résistant à la chaleur et utiliser des matériaux ignifugés pour permettre une opération à proximité directe des flammes.</a:t>
            </a:r>
            <a:endParaRPr lang="en-US" sz="95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ECE8B05B-FAB4-846F-1741-8751DC6E3FD8}"/>
              </a:ext>
            </a:extLst>
          </p:cNvPr>
          <p:cNvSpPr/>
          <p:nvPr/>
        </p:nvSpPr>
        <p:spPr>
          <a:xfrm>
            <a:off x="3265711" y="3067812"/>
            <a:ext cx="26334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3EE94DF-7E99-8312-F14F-FBE202CB18E8}"/>
              </a:ext>
            </a:extLst>
          </p:cNvPr>
          <p:cNvSpPr/>
          <p:nvPr/>
        </p:nvSpPr>
        <p:spPr>
          <a:xfrm>
            <a:off x="3265711" y="3067812"/>
            <a:ext cx="2633472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301A1187-E7E9-6CDF-2D1F-0F74C72DB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439" y="3159252"/>
            <a:ext cx="274320" cy="274320"/>
          </a:xfrm>
          <a:prstGeom prst="rect">
            <a:avLst/>
          </a:prstGeom>
        </p:spPr>
      </p:pic>
      <p:sp>
        <p:nvSpPr>
          <p:cNvPr id="55" name="Text 25">
            <a:extLst>
              <a:ext uri="{FF2B5EF4-FFF2-40B4-BE49-F238E27FC236}">
                <a16:creationId xmlns:a16="http://schemas.microsoft.com/office/drawing/2014/main" id="{143E6EF2-6923-D900-A822-A9B8CCABC9E8}"/>
              </a:ext>
            </a:extLst>
          </p:cNvPr>
          <p:cNvSpPr/>
          <p:nvPr/>
        </p:nvSpPr>
        <p:spPr>
          <a:xfrm>
            <a:off x="3722911" y="31409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Batterie</a:t>
            </a:r>
            <a:endParaRPr lang="en-US" sz="105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0247F91C-3EB0-9332-4AD0-44A78AF86E8F}"/>
              </a:ext>
            </a:extLst>
          </p:cNvPr>
          <p:cNvSpPr/>
          <p:nvPr/>
        </p:nvSpPr>
        <p:spPr>
          <a:xfrm>
            <a:off x="3375439" y="3579876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l'alimentation filaire par une batterie LiPo 11.1V avec circuit de recharge et gestion d'énergie pour une autonomie de 30–60 minutes.</a:t>
            </a:r>
            <a:endParaRPr lang="en-US" sz="95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18996098-AAE0-94FD-E26E-B8219350EACB}"/>
              </a:ext>
            </a:extLst>
          </p:cNvPr>
          <p:cNvSpPr/>
          <p:nvPr/>
        </p:nvSpPr>
        <p:spPr>
          <a:xfrm>
            <a:off x="6063775" y="3067812"/>
            <a:ext cx="26334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7A73AEE7-9E8F-BF7C-762E-F7B282842823}"/>
              </a:ext>
            </a:extLst>
          </p:cNvPr>
          <p:cNvSpPr/>
          <p:nvPr/>
        </p:nvSpPr>
        <p:spPr>
          <a:xfrm>
            <a:off x="6063775" y="3067812"/>
            <a:ext cx="2633472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0" name="Image 5" descr="preencoded.png">
            <a:extLst>
              <a:ext uri="{FF2B5EF4-FFF2-40B4-BE49-F238E27FC236}">
                <a16:creationId xmlns:a16="http://schemas.microsoft.com/office/drawing/2014/main" id="{3182A216-19B6-DEB2-395E-93D66FD11E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3503" y="3159252"/>
            <a:ext cx="274320" cy="274320"/>
          </a:xfrm>
          <a:prstGeom prst="rect">
            <a:avLst/>
          </a:prstGeom>
        </p:spPr>
      </p:pic>
      <p:sp>
        <p:nvSpPr>
          <p:cNvPr id="61" name="Text 29">
            <a:extLst>
              <a:ext uri="{FF2B5EF4-FFF2-40B4-BE49-F238E27FC236}">
                <a16:creationId xmlns:a16="http://schemas.microsoft.com/office/drawing/2014/main" id="{28AEA84D-A5E4-331A-2A17-2338EEF409FA}"/>
              </a:ext>
            </a:extLst>
          </p:cNvPr>
          <p:cNvSpPr/>
          <p:nvPr/>
        </p:nvSpPr>
        <p:spPr>
          <a:xfrm>
            <a:off x="6520975" y="31409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Multi-Robot</a:t>
            </a:r>
            <a:endParaRPr lang="en-US" sz="1050" dirty="0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8679801F-4F94-DDCC-B8FE-27214DF6ABC9}"/>
              </a:ext>
            </a:extLst>
          </p:cNvPr>
          <p:cNvSpPr/>
          <p:nvPr/>
        </p:nvSpPr>
        <p:spPr>
          <a:xfrm>
            <a:off x="6173503" y="3579876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une flotte de robots communicants via Wi-Fi pour une couverture plus large, avec algorithme de coordination décentralisée.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726702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457200" y="2514600"/>
            <a:ext cx="4114800" cy="5486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Démonstration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0" y="4860740"/>
            <a:ext cx="9144000" cy="29718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Pompier </a:t>
            </a:r>
            <a:r>
              <a:rPr lang="en-US" sz="8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</a:t>
            </a:r>
            <a:endParaRPr lang="en-US" sz="800" dirty="0"/>
          </a:p>
        </p:txBody>
      </p:sp>
      <p:pic>
        <p:nvPicPr>
          <p:cNvPr id="26" name="Graphique 25" descr="Feu">
            <a:extLst>
              <a:ext uri="{FF2B5EF4-FFF2-40B4-BE49-F238E27FC236}">
                <a16:creationId xmlns:a16="http://schemas.microsoft.com/office/drawing/2014/main" id="{539656B6-FFFA-2DAF-2FE5-2E0D22500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9753" y="321563"/>
            <a:ext cx="1828800" cy="182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2506</Words>
  <Application>Microsoft Office PowerPoint</Application>
  <PresentationFormat>Affichage à l'écran (16:9)</PresentationFormat>
  <Paragraphs>677</Paragraphs>
  <Slides>25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Pompier Autonome — PFA</dc:title>
  <dc:subject>PptxGenJS Presentation</dc:subject>
  <dc:creator>PptxGenJS</dc:creator>
  <cp:lastModifiedBy>hedi haddaoui</cp:lastModifiedBy>
  <cp:revision>16</cp:revision>
  <dcterms:created xsi:type="dcterms:W3CDTF">2026-04-26T00:01:26Z</dcterms:created>
  <dcterms:modified xsi:type="dcterms:W3CDTF">2026-05-14T13:05:51Z</dcterms:modified>
</cp:coreProperties>
</file>